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1"/>
  </p:sldMasterIdLst>
  <p:notesMasterIdLst>
    <p:notesMasterId r:id="rId24"/>
  </p:notesMasterIdLst>
  <p:sldIdLst>
    <p:sldId id="256" r:id="rId2"/>
    <p:sldId id="257" r:id="rId3"/>
    <p:sldId id="260" r:id="rId4"/>
    <p:sldId id="258" r:id="rId5"/>
    <p:sldId id="259"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6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9" autoAdjust="0"/>
    <p:restoredTop sz="94364" autoAdjust="0"/>
  </p:normalViewPr>
  <p:slideViewPr>
    <p:cSldViewPr snapToGrid="0">
      <p:cViewPr varScale="1">
        <p:scale>
          <a:sx n="65" d="100"/>
          <a:sy n="65" d="100"/>
        </p:scale>
        <p:origin x="66" y="162"/>
      </p:cViewPr>
      <p:guideLst/>
    </p:cSldViewPr>
  </p:slideViewPr>
  <p:outlineViewPr>
    <p:cViewPr>
      <p:scale>
        <a:sx n="33" d="100"/>
        <a:sy n="33" d="100"/>
      </p:scale>
      <p:origin x="0" y="-1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0A47A9-20E3-4AAB-9D8D-9CF49755965E}"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17653A-BFAB-4BBC-8959-82351E15C307}" type="slidenum">
              <a:rPr lang="en-US" smtClean="0"/>
              <a:t>‹#›</a:t>
            </a:fld>
            <a:endParaRPr lang="en-US"/>
          </a:p>
        </p:txBody>
      </p:sp>
    </p:spTree>
    <p:extLst>
      <p:ext uri="{BB962C8B-B14F-4D97-AF65-F5344CB8AC3E}">
        <p14:creationId xmlns:p14="http://schemas.microsoft.com/office/powerpoint/2010/main" val="1825238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930A79B-B13C-43D1-AEE8-896BFF5734D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3641157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930A79B-B13C-43D1-AEE8-896BFF5734D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15306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930A79B-B13C-43D1-AEE8-896BFF5734D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4081372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930A79B-B13C-43D1-AEE8-896BFF5734D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3720799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930A79B-B13C-43D1-AEE8-896BFF5734D4}"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3027127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930A79B-B13C-43D1-AEE8-896BFF5734D4}"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2355433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30A79B-B13C-43D1-AEE8-896BFF5734D4}"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2217750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930A79B-B13C-43D1-AEE8-896BFF5734D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2047670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930A79B-B13C-43D1-AEE8-896BFF5734D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1312856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930A79B-B13C-43D1-AEE8-896BFF5734D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12212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930A79B-B13C-43D1-AEE8-896BFF5734D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918477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930A79B-B13C-43D1-AEE8-896BFF5734D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31C15A-ABE6-43CB-82CC-198DCCE82DE4}"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32912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930A79B-B13C-43D1-AEE8-896BFF5734D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2471205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5930A79B-B13C-43D1-AEE8-896BFF5734D4}"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27369752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5930A79B-B13C-43D1-AEE8-896BFF5734D4}"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747232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930A79B-B13C-43D1-AEE8-896BFF5734D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3375835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930A79B-B13C-43D1-AEE8-896BFF5734D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31C15A-ABE6-43CB-82CC-198DCCE82DE4}" type="slidenum">
              <a:rPr lang="en-US" smtClean="0"/>
              <a:t>‹#›</a:t>
            </a:fld>
            <a:endParaRPr lang="en-US"/>
          </a:p>
        </p:txBody>
      </p:sp>
    </p:spTree>
    <p:extLst>
      <p:ext uri="{BB962C8B-B14F-4D97-AF65-F5344CB8AC3E}">
        <p14:creationId xmlns:p14="http://schemas.microsoft.com/office/powerpoint/2010/main" val="3067076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930A79B-B13C-43D1-AEE8-896BFF5734D4}" type="datetimeFigureOut">
              <a:rPr lang="en-US" smtClean="0"/>
              <a:t>4/27/2026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A331C15A-ABE6-43CB-82CC-198DCCE82DE4}" type="slidenum">
              <a:rPr lang="en-US" smtClean="0"/>
              <a:t>‹#›</a:t>
            </a:fld>
            <a:endParaRPr lang="en-US"/>
          </a:p>
        </p:txBody>
      </p:sp>
    </p:spTree>
    <p:extLst>
      <p:ext uri="{BB962C8B-B14F-4D97-AF65-F5344CB8AC3E}">
        <p14:creationId xmlns:p14="http://schemas.microsoft.com/office/powerpoint/2010/main" val="1850580731"/>
      </p:ext>
    </p:extLst>
  </p:cSld>
  <p:clrMap bg1="dk1" tx1="lt1" bg2="dk2" tx2="lt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p:cNvSpPr>
            <a:spLocks noGrp="1"/>
          </p:cNvSpPr>
          <p:nvPr>
            <p:ph type="ctrTitle"/>
          </p:nvPr>
        </p:nvSpPr>
        <p:spPr>
          <a:xfrm>
            <a:off x="979574" y="389732"/>
            <a:ext cx="9144000" cy="1620836"/>
          </a:xfrm>
        </p:spPr>
        <p:txBody>
          <a:bodyPr>
            <a:normAutofit fontScale="90000"/>
          </a:bodyPr>
          <a:lstStyle/>
          <a:p>
            <a:r>
              <a:rPr lang="en-US" dirty="0" smtClean="0">
                <a:latin typeface="Times New Roman" panose="02020603050405020304" pitchFamily="18" charset="0"/>
                <a:cs typeface="Times New Roman" panose="02020603050405020304" pitchFamily="18" charset="0"/>
              </a:rPr>
              <a:t>Technology &amp; Digital Management IN HOSPITALS</a:t>
            </a:r>
            <a:endParaRPr lang="en-US" dirty="0">
              <a:latin typeface="Times New Roman" panose="02020603050405020304" pitchFamily="18" charset="0"/>
              <a:cs typeface="Times New Roman" panose="02020603050405020304" pitchFamily="18" charset="0"/>
            </a:endParaRPr>
          </a:p>
        </p:txBody>
      </p:sp>
      <p:sp>
        <p:nvSpPr>
          <p:cNvPr id="24" name="Subtitle 23"/>
          <p:cNvSpPr>
            <a:spLocks noGrp="1"/>
          </p:cNvSpPr>
          <p:nvPr>
            <p:ph type="subTitle" idx="1"/>
          </p:nvPr>
        </p:nvSpPr>
        <p:spPr>
          <a:xfrm>
            <a:off x="1113153" y="2212258"/>
            <a:ext cx="9971315" cy="4262284"/>
          </a:xfrm>
        </p:spPr>
        <p:txBody>
          <a:bodyPr>
            <a:normAutofit fontScale="25000" lnSpcReduction="20000"/>
          </a:bodyPr>
          <a:lstStyle/>
          <a:p>
            <a:pPr algn="l"/>
            <a:r>
              <a:rPr lang="en-US" sz="11400" dirty="0" smtClean="0">
                <a:latin typeface="Times New Roman" panose="02020603050405020304" pitchFamily="18" charset="0"/>
                <a:cs typeface="Times New Roman" panose="02020603050405020304" pitchFamily="18" charset="0"/>
              </a:rPr>
              <a:t>Submitted To:										-MR CH AMARESH SIR</a:t>
            </a:r>
            <a:endParaRPr lang="en-US" sz="11400" dirty="0">
              <a:latin typeface="Times New Roman" panose="02020603050405020304" pitchFamily="18" charset="0"/>
              <a:cs typeface="Times New Roman" panose="02020603050405020304" pitchFamily="18" charset="0"/>
            </a:endParaRPr>
          </a:p>
          <a:p>
            <a:pPr algn="l"/>
            <a:r>
              <a:rPr lang="en-US" sz="11400" dirty="0">
                <a:latin typeface="Times New Roman" panose="02020603050405020304" pitchFamily="18" charset="0"/>
                <a:cs typeface="Times New Roman" panose="02020603050405020304" pitchFamily="18" charset="0"/>
              </a:rPr>
              <a:t>Submitted by </a:t>
            </a:r>
            <a:r>
              <a:rPr lang="en-US" sz="11400" dirty="0" smtClean="0">
                <a:latin typeface="Times New Roman" panose="02020603050405020304" pitchFamily="18" charset="0"/>
                <a:cs typeface="Times New Roman" panose="02020603050405020304" pitchFamily="18" charset="0"/>
              </a:rPr>
              <a:t>:					</a:t>
            </a:r>
            <a:endParaRPr lang="en-US" sz="11400" dirty="0" smtClean="0">
              <a:latin typeface="Times New Roman" panose="02020603050405020304" pitchFamily="18" charset="0"/>
              <a:cs typeface="Times New Roman" panose="02020603050405020304" pitchFamily="18" charset="0"/>
            </a:endParaRPr>
          </a:p>
          <a:p>
            <a:pPr algn="l"/>
            <a:r>
              <a:rPr lang="en-US" sz="11400" dirty="0" smtClean="0">
                <a:latin typeface="Times New Roman" panose="02020603050405020304" pitchFamily="18" charset="0"/>
                <a:cs typeface="Times New Roman" panose="02020603050405020304" pitchFamily="18" charset="0"/>
              </a:rPr>
              <a:t>241FA04523</a:t>
            </a:r>
          </a:p>
          <a:p>
            <a:pPr algn="l"/>
            <a:r>
              <a:rPr lang="en-US" sz="11400" dirty="0" smtClean="0">
                <a:latin typeface="Times New Roman" panose="02020603050405020304" pitchFamily="18" charset="0"/>
                <a:cs typeface="Times New Roman" panose="02020603050405020304" pitchFamily="18" charset="0"/>
              </a:rPr>
              <a:t>241FA04891</a:t>
            </a:r>
          </a:p>
          <a:p>
            <a:pPr algn="l"/>
            <a:r>
              <a:rPr lang="en-US" sz="11400" dirty="0" smtClean="0">
                <a:latin typeface="Times New Roman" panose="02020603050405020304" pitchFamily="18" charset="0"/>
                <a:cs typeface="Times New Roman" panose="02020603050405020304" pitchFamily="18" charset="0"/>
              </a:rPr>
              <a:t>241FA04B82</a:t>
            </a:r>
          </a:p>
          <a:p>
            <a:pPr algn="l"/>
            <a:r>
              <a:rPr lang="en-US" sz="11400" dirty="0" smtClean="0">
                <a:latin typeface="Times New Roman" panose="02020603050405020304" pitchFamily="18" charset="0"/>
                <a:cs typeface="Times New Roman" panose="02020603050405020304" pitchFamily="18" charset="0"/>
              </a:rPr>
              <a:t> 241FA04D77</a:t>
            </a:r>
          </a:p>
          <a:p>
            <a:pPr algn="l"/>
            <a:r>
              <a:rPr lang="en-US" sz="11400" dirty="0" smtClean="0">
                <a:latin typeface="Times New Roman" panose="02020603050405020304" pitchFamily="18" charset="0"/>
                <a:cs typeface="Times New Roman" panose="02020603050405020304" pitchFamily="18" charset="0"/>
              </a:rPr>
              <a:t>    								-</a:t>
            </a:r>
            <a:r>
              <a:rPr lang="en-US" sz="11400" dirty="0" smtClean="0">
                <a:latin typeface="Times New Roman" panose="02020603050405020304" pitchFamily="18" charset="0"/>
                <a:cs typeface="Times New Roman" panose="02020603050405020304" pitchFamily="18" charset="0"/>
              </a:rPr>
              <a:t>Batch no:8							</a:t>
            </a:r>
            <a:r>
              <a:rPr lang="en-US" sz="11400" dirty="0" smtClean="0"/>
              <a:t>			</a:t>
            </a:r>
            <a:r>
              <a:rPr lang="en-US" dirty="0" smtClean="0"/>
              <a:t>										</a:t>
            </a:r>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2475" y="0"/>
            <a:ext cx="3819525" cy="1200150"/>
          </a:xfrm>
          <a:prstGeom prst="rect">
            <a:avLst/>
          </a:prstGeom>
        </p:spPr>
      </p:pic>
    </p:spTree>
    <p:extLst>
      <p:ext uri="{BB962C8B-B14F-4D97-AF65-F5344CB8AC3E}">
        <p14:creationId xmlns:p14="http://schemas.microsoft.com/office/powerpoint/2010/main" val="31663340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001" y="439783"/>
            <a:ext cx="4661263" cy="1319984"/>
          </a:xfrm>
        </p:spPr>
        <p:txBody>
          <a:bodyPr>
            <a:normAutofit/>
          </a:bodyPr>
          <a:lstStyle/>
          <a:p>
            <a:r>
              <a:rPr lang="en-US" dirty="0" smtClean="0">
                <a:latin typeface="Times New Roman" panose="02020603050405020304" pitchFamily="18" charset="0"/>
                <a:cs typeface="Times New Roman" panose="02020603050405020304" pitchFamily="18" charset="0"/>
              </a:rPr>
              <a:t>INTRODUCTION:             </a:t>
            </a:r>
            <a:endParaRPr lang="en-US"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2660" y="-4354"/>
            <a:ext cx="3819525" cy="1200150"/>
          </a:xfrm>
          <a:prstGeom prst="rect">
            <a:avLst/>
          </a:prstGeom>
        </p:spPr>
      </p:pic>
      <p:sp>
        <p:nvSpPr>
          <p:cNvPr id="23" name="TextBox 22"/>
          <p:cNvSpPr txBox="1"/>
          <p:nvPr/>
        </p:nvSpPr>
        <p:spPr>
          <a:xfrm>
            <a:off x="182880" y="1998617"/>
            <a:ext cx="11859305" cy="3539430"/>
          </a:xfrm>
          <a:prstGeom prst="rect">
            <a:avLst/>
          </a:prstGeom>
          <a:noFill/>
        </p:spPr>
        <p:txBody>
          <a:bodyPr wrap="square" rtlCol="0">
            <a:spAutoFit/>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Hospitals today face increasing pressure to provide high-quality patient care while managing costs, staff, and resources efficiently.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Technology and digital management systems, such as hospital information system (HIS), electronic medical records (EMR), telemedicine, and digital billing, are transforming hospital operations</a:t>
            </a:r>
            <a:r>
              <a:rPr lang="en-US" sz="2800" dirty="0" smtClean="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smtClean="0">
                <a:latin typeface="Times New Roman" panose="02020603050405020304" pitchFamily="18" charset="0"/>
                <a:cs typeface="Times New Roman" panose="02020603050405020304" pitchFamily="18" charset="0"/>
              </a:rPr>
              <a:t>These systems streamline workflows, reduce errors, enhance patient            experience, and improve decision-making for administrators and medical staff.</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49897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04948" y="1200150"/>
            <a:ext cx="11377749" cy="4031873"/>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With the incorporation of advanced technologies like Machine Learning and Artificial Intelligence, hospitals can move beyond traditional data management toward predictive and intelligent systems. These technologies help in disease prediction, early diagnosis, resource optimization, patient monitoring, and cost control. As a result, digital hospital management improves healthcare quality, enhances efficiency, reduces human error, and supports evidence-based decision-making.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2475" y="0"/>
            <a:ext cx="3819525" cy="1200150"/>
          </a:xfrm>
          <a:prstGeom prst="rect">
            <a:avLst/>
          </a:prstGeom>
        </p:spPr>
      </p:pic>
    </p:spTree>
    <p:extLst>
      <p:ext uri="{BB962C8B-B14F-4D97-AF65-F5344CB8AC3E}">
        <p14:creationId xmlns:p14="http://schemas.microsoft.com/office/powerpoint/2010/main" val="1540956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659" y="283029"/>
            <a:ext cx="3553702" cy="1326321"/>
          </a:xfrm>
        </p:spPr>
        <p:txBody>
          <a:bodyPr/>
          <a:lstStyle/>
          <a:p>
            <a:r>
              <a:rPr lang="en-US" dirty="0" smtClean="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7818" y="1133292"/>
            <a:ext cx="11004615" cy="5581017"/>
          </a:xfrm>
        </p:spPr>
        <p:txBody>
          <a:bodyPr>
            <a:noAutofit/>
          </a:bodyPr>
          <a:lstStyle/>
          <a:p>
            <a:pPr>
              <a:buFont typeface="Wingdings" panose="05000000000000000000" pitchFamily="2" charset="2"/>
              <a:buChar char="Ø"/>
            </a:pPr>
            <a:r>
              <a:rPr lang="en-US" sz="2400" b="1" dirty="0" smtClean="0">
                <a:latin typeface="Times New Roman" panose="02020603050405020304" pitchFamily="18" charset="0"/>
                <a:cs typeface="Times New Roman" panose="02020603050405020304" pitchFamily="18" charset="0"/>
              </a:rPr>
              <a:t>Improved Patient Care</a:t>
            </a:r>
            <a:r>
              <a:rPr lang="en-US" sz="2400" dirty="0" smtClean="0">
                <a:latin typeface="Times New Roman" panose="02020603050405020304" pitchFamily="18" charset="0"/>
                <a:cs typeface="Times New Roman" panose="02020603050405020304" pitchFamily="18" charset="0"/>
              </a:rPr>
              <a:t> – Quick access to digital patient records for accurate diagnosis and treatment.</a:t>
            </a:r>
          </a:p>
          <a:p>
            <a:pPr>
              <a:buFont typeface="Wingdings" panose="05000000000000000000" pitchFamily="2" charset="2"/>
              <a:buChar char="Ø"/>
            </a:pPr>
            <a:r>
              <a:rPr lang="en-US" sz="2400" b="1" dirty="0" smtClean="0">
                <a:latin typeface="Times New Roman" panose="02020603050405020304" pitchFamily="18" charset="0"/>
                <a:cs typeface="Times New Roman" panose="02020603050405020304" pitchFamily="18" charset="0"/>
              </a:rPr>
              <a:t>Remote Monitoring</a:t>
            </a:r>
            <a:r>
              <a:rPr lang="en-US" sz="2400" dirty="0" smtClean="0">
                <a:latin typeface="Times New Roman" panose="02020603050405020304" pitchFamily="18" charset="0"/>
                <a:cs typeface="Times New Roman" panose="02020603050405020304" pitchFamily="18" charset="0"/>
              </a:rPr>
              <a:t> – Telemedicine enables continuous care, especially for chronic patients.</a:t>
            </a:r>
          </a:p>
          <a:p>
            <a:pPr>
              <a:buFont typeface="Wingdings" panose="05000000000000000000" pitchFamily="2" charset="2"/>
              <a:buChar char="Ø"/>
            </a:pPr>
            <a:r>
              <a:rPr lang="en-US" sz="2400" b="1" dirty="0" smtClean="0">
                <a:latin typeface="Times New Roman" panose="02020603050405020304" pitchFamily="18" charset="0"/>
                <a:cs typeface="Times New Roman" panose="02020603050405020304" pitchFamily="18" charset="0"/>
              </a:rPr>
              <a:t>Operational Efficiency</a:t>
            </a:r>
            <a:r>
              <a:rPr lang="en-US" sz="2400" dirty="0" smtClean="0">
                <a:latin typeface="Times New Roman" panose="02020603050405020304" pitchFamily="18" charset="0"/>
                <a:cs typeface="Times New Roman" panose="02020603050405020304" pitchFamily="18" charset="0"/>
              </a:rPr>
              <a:t> – Automates scheduling, billing, </a:t>
            </a:r>
            <a:r>
              <a:rPr lang="en-US" sz="2400" dirty="0" err="1" smtClean="0">
                <a:latin typeface="Times New Roman" panose="02020603050405020304" pitchFamily="18" charset="0"/>
                <a:cs typeface="Times New Roman" panose="02020603050405020304" pitchFamily="18" charset="0"/>
              </a:rPr>
              <a:t>andadministrative</a:t>
            </a:r>
            <a:r>
              <a:rPr lang="en-US" sz="2400" dirty="0" smtClean="0">
                <a:latin typeface="Times New Roman" panose="02020603050405020304" pitchFamily="18" charset="0"/>
                <a:cs typeface="Times New Roman" panose="02020603050405020304" pitchFamily="18" charset="0"/>
              </a:rPr>
              <a:t> tasks.</a:t>
            </a:r>
          </a:p>
          <a:p>
            <a:pPr>
              <a:buFont typeface="Wingdings" panose="05000000000000000000" pitchFamily="2" charset="2"/>
              <a:buChar char="Ø"/>
            </a:pPr>
            <a:r>
              <a:rPr lang="en-US" sz="2400" b="1" dirty="0" smtClean="0">
                <a:latin typeface="Times New Roman" panose="02020603050405020304" pitchFamily="18" charset="0"/>
                <a:cs typeface="Times New Roman" panose="02020603050405020304" pitchFamily="18" charset="0"/>
              </a:rPr>
              <a:t>Reduced Errors</a:t>
            </a:r>
            <a:r>
              <a:rPr lang="en-US" sz="2400" dirty="0" smtClean="0">
                <a:latin typeface="Times New Roman" panose="02020603050405020304" pitchFamily="18" charset="0"/>
                <a:cs typeface="Times New Roman" panose="02020603050405020304" pitchFamily="18" charset="0"/>
              </a:rPr>
              <a:t> – Minimizes paperwork and manual mistakes.</a:t>
            </a:r>
          </a:p>
          <a:p>
            <a:pPr>
              <a:buFont typeface="Wingdings" panose="05000000000000000000" pitchFamily="2" charset="2"/>
              <a:buChar char="Ø"/>
            </a:pPr>
            <a:r>
              <a:rPr lang="en-US" sz="2400" b="1" dirty="0" smtClean="0">
                <a:latin typeface="Times New Roman" panose="02020603050405020304" pitchFamily="18" charset="0"/>
                <a:cs typeface="Times New Roman" panose="02020603050405020304" pitchFamily="18" charset="0"/>
              </a:rPr>
              <a:t>Cost Savings</a:t>
            </a:r>
            <a:r>
              <a:rPr lang="en-US" sz="2400" dirty="0" smtClean="0">
                <a:latin typeface="Times New Roman" panose="02020603050405020304" pitchFamily="18" charset="0"/>
                <a:cs typeface="Times New Roman" panose="02020603050405020304" pitchFamily="18" charset="0"/>
              </a:rPr>
              <a:t> – Prevents duplicate tests, reduces wastage, and lowers operational costs.</a:t>
            </a:r>
          </a:p>
          <a:p>
            <a:pPr>
              <a:buFont typeface="Wingdings" panose="05000000000000000000" pitchFamily="2" charset="2"/>
              <a:buChar char="Ø"/>
            </a:pPr>
            <a:r>
              <a:rPr lang="en-US" sz="2400" b="1" dirty="0" smtClean="0">
                <a:latin typeface="Times New Roman" panose="02020603050405020304" pitchFamily="18" charset="0"/>
                <a:cs typeface="Times New Roman" panose="02020603050405020304" pitchFamily="18" charset="0"/>
              </a:rPr>
              <a:t>Better Communication</a:t>
            </a:r>
            <a:r>
              <a:rPr lang="en-US" sz="2400" dirty="0" smtClean="0">
                <a:latin typeface="Times New Roman" panose="02020603050405020304" pitchFamily="18" charset="0"/>
                <a:cs typeface="Times New Roman" panose="02020603050405020304" pitchFamily="18" charset="0"/>
              </a:rPr>
              <a:t> – Facilitates coordination between departments and doctors.</a:t>
            </a:r>
          </a:p>
          <a:p>
            <a:endParaRPr lang="en-US" sz="2400" dirty="0" smtClean="0"/>
          </a:p>
          <a:p>
            <a:endParaRPr lang="en-US" sz="2400" dirty="0" smtClean="0"/>
          </a:p>
          <a:p>
            <a:pPr marL="0" indent="0">
              <a:buNone/>
            </a:pP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2475" y="0"/>
            <a:ext cx="3819525" cy="1200150"/>
          </a:xfrm>
          <a:prstGeom prst="rect">
            <a:avLst/>
          </a:prstGeom>
        </p:spPr>
      </p:pic>
    </p:spTree>
    <p:extLst>
      <p:ext uri="{BB962C8B-B14F-4D97-AF65-F5344CB8AC3E}">
        <p14:creationId xmlns:p14="http://schemas.microsoft.com/office/powerpoint/2010/main" val="185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8194" y="269473"/>
            <a:ext cx="3958047" cy="615553"/>
          </a:xfrm>
          <a:prstGeom prst="rect">
            <a:avLst/>
          </a:prstGeom>
          <a:noFill/>
        </p:spPr>
        <p:txBody>
          <a:bodyPr wrap="square" rtlCol="0">
            <a:spAutoFit/>
          </a:bodyPr>
          <a:lstStyle/>
          <a:p>
            <a:r>
              <a:rPr lang="en-US" sz="3400" dirty="0" smtClean="0">
                <a:latin typeface="Times New Roman" panose="02020603050405020304" pitchFamily="18" charset="0"/>
                <a:cs typeface="Times New Roman" panose="02020603050405020304" pitchFamily="18" charset="0"/>
              </a:rPr>
              <a:t>Disadvantages:-</a:t>
            </a:r>
            <a:endParaRPr lang="en-US" sz="34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30629" y="1263831"/>
            <a:ext cx="11861074" cy="4154984"/>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smtClean="0">
                <a:latin typeface="Times New Roman" panose="02020603050405020304" pitchFamily="18" charset="0"/>
                <a:cs typeface="Times New Roman" panose="02020603050405020304" pitchFamily="18" charset="0"/>
              </a:rPr>
              <a:t>Disadvantages</a:t>
            </a:r>
            <a:r>
              <a:rPr lang="en-US" sz="2400" b="1" dirty="0">
                <a:latin typeface="Times New Roman" panose="02020603050405020304" pitchFamily="18" charset="0"/>
                <a:cs typeface="Times New Roman" panose="02020603050405020304" pitchFamily="18" charset="0"/>
              </a:rPr>
              <a:t>: The "Con" </a:t>
            </a:r>
            <a:r>
              <a:rPr lang="en-US" sz="2400" b="1" dirty="0" err="1">
                <a:latin typeface="Times New Roman" panose="02020603050405020304" pitchFamily="18" charset="0"/>
                <a:cs typeface="Times New Roman" panose="02020603050405020304" pitchFamily="18" charset="0"/>
              </a:rPr>
              <a:t>SideThe</a:t>
            </a:r>
            <a:r>
              <a:rPr lang="en-US" sz="2400" b="1" dirty="0">
                <a:latin typeface="Times New Roman" panose="02020603050405020304" pitchFamily="18" charset="0"/>
                <a:cs typeface="Times New Roman" panose="02020603050405020304" pitchFamily="18" charset="0"/>
              </a:rPr>
              <a:t> challenges aren't just technical; they are ethical and </a:t>
            </a:r>
            <a:r>
              <a:rPr lang="en-US" sz="2400" b="1" dirty="0" err="1">
                <a:latin typeface="Times New Roman" panose="02020603050405020304" pitchFamily="18" charset="0"/>
                <a:cs typeface="Times New Roman" panose="02020603050405020304" pitchFamily="18" charset="0"/>
              </a:rPr>
              <a:t>psychological.The</a:t>
            </a:r>
            <a:r>
              <a:rPr lang="en-US" sz="2400" b="1" dirty="0">
                <a:latin typeface="Times New Roman" panose="02020603050405020304" pitchFamily="18" charset="0"/>
                <a:cs typeface="Times New Roman" panose="02020603050405020304" pitchFamily="18" charset="0"/>
              </a:rPr>
              <a:t> "Black Box" Problem: Many complex ML models (like Deep Learning) can’t explain why they reached a certain conclusion. If a computer recommends a risky surgery, a surgeon might be hesitant to follow it without a clear "reasoning" </a:t>
            </a:r>
            <a:r>
              <a:rPr lang="en-US" sz="2400" b="1" dirty="0" err="1">
                <a:latin typeface="Times New Roman" panose="02020603050405020304" pitchFamily="18" charset="0"/>
                <a:cs typeface="Times New Roman" panose="02020603050405020304" pitchFamily="18" charset="0"/>
              </a:rPr>
              <a:t>path.Algorithmic</a:t>
            </a:r>
            <a:r>
              <a:rPr lang="en-US" sz="2400" b="1" dirty="0">
                <a:latin typeface="Times New Roman" panose="02020603050405020304" pitchFamily="18" charset="0"/>
                <a:cs typeface="Times New Roman" panose="02020603050405020304" pitchFamily="18" charset="0"/>
              </a:rPr>
              <a:t> Bias: If the data used to train the AI is </a:t>
            </a:r>
            <a:r>
              <a:rPr lang="en-US" sz="2400" b="1" dirty="0" smtClean="0">
                <a:latin typeface="Times New Roman" panose="02020603050405020304" pitchFamily="18" charset="0"/>
                <a:cs typeface="Times New Roman" panose="02020603050405020304" pitchFamily="18" charset="0"/>
              </a:rPr>
              <a:t>biased on </a:t>
            </a:r>
            <a:r>
              <a:rPr lang="en-US" sz="2400" b="1" dirty="0">
                <a:latin typeface="Times New Roman" panose="02020603050405020304" pitchFamily="18" charset="0"/>
                <a:cs typeface="Times New Roman" panose="02020603050405020304" pitchFamily="18" charset="0"/>
              </a:rPr>
              <a:t>the ML might provide less accurate or even harmful recommendations for patients of other </a:t>
            </a:r>
            <a:r>
              <a:rPr lang="en-US" sz="2400" b="1" dirty="0" err="1">
                <a:latin typeface="Times New Roman" panose="02020603050405020304" pitchFamily="18" charset="0"/>
                <a:cs typeface="Times New Roman" panose="02020603050405020304" pitchFamily="18" charset="0"/>
              </a:rPr>
              <a:t>backgrounds.Data</a:t>
            </a:r>
            <a:r>
              <a:rPr lang="en-US" sz="2400" b="1" dirty="0">
                <a:latin typeface="Times New Roman" panose="02020603050405020304" pitchFamily="18" charset="0"/>
                <a:cs typeface="Times New Roman" panose="02020603050405020304" pitchFamily="18" charset="0"/>
              </a:rPr>
              <a:t> Security &amp; Privacy: Hospitals are "gold mines" for hackers. Consolidating all patient data into an ML system creates a single point of failure; if the system is breached, sensitive medical histories are </a:t>
            </a:r>
            <a:r>
              <a:rPr lang="en-US" sz="2400" b="1" dirty="0" err="1">
                <a:latin typeface="Times New Roman" panose="02020603050405020304" pitchFamily="18" charset="0"/>
                <a:cs typeface="Times New Roman" panose="02020603050405020304" pitchFamily="18" charset="0"/>
              </a:rPr>
              <a:t>exposed.High</a:t>
            </a:r>
            <a:r>
              <a:rPr lang="en-US" sz="2400" b="1" dirty="0">
                <a:latin typeface="Times New Roman" panose="02020603050405020304" pitchFamily="18" charset="0"/>
                <a:cs typeface="Times New Roman" panose="02020603050405020304" pitchFamily="18" charset="0"/>
              </a:rPr>
              <a:t> Initial Cost: While it saves money in the long run, the "entry fee" for AI—buying high-end servers, hiring data scientists, and cleaning up messy legacy </a:t>
            </a:r>
            <a:r>
              <a:rPr lang="en-US" sz="2400" b="1" dirty="0" smtClean="0">
                <a:latin typeface="Times New Roman" panose="02020603050405020304" pitchFamily="18" charset="0"/>
                <a:cs typeface="Times New Roman" panose="02020603050405020304" pitchFamily="18" charset="0"/>
              </a:rPr>
              <a:t>data is </a:t>
            </a:r>
            <a:r>
              <a:rPr lang="en-US" sz="2400" b="1" dirty="0">
                <a:latin typeface="Times New Roman" panose="02020603050405020304" pitchFamily="18" charset="0"/>
                <a:cs typeface="Times New Roman" panose="02020603050405020304" pitchFamily="18" charset="0"/>
              </a:rPr>
              <a:t>extremely expensive</a:t>
            </a:r>
            <a:r>
              <a:rPr lang="en-US" sz="2400" b="1" dirty="0" smtClean="0">
                <a:latin typeface="Times New Roman" panose="02020603050405020304" pitchFamily="18" charset="0"/>
                <a:cs typeface="Times New Roman" panose="02020603050405020304" pitchFamily="18" charset="0"/>
              </a:rPr>
              <a:t>.</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2475" y="0"/>
            <a:ext cx="3819525" cy="1200150"/>
          </a:xfrm>
          <a:prstGeom prst="rect">
            <a:avLst/>
          </a:prstGeom>
        </p:spPr>
      </p:pic>
    </p:spTree>
    <p:extLst>
      <p:ext uri="{BB962C8B-B14F-4D97-AF65-F5344CB8AC3E}">
        <p14:creationId xmlns:p14="http://schemas.microsoft.com/office/powerpoint/2010/main" val="4221157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378823"/>
            <a:ext cx="11730446" cy="6247864"/>
          </a:xfrm>
          <a:prstGeom prst="rect">
            <a:avLst/>
          </a:prstGeom>
          <a:noFill/>
        </p:spPr>
        <p:txBody>
          <a:bodyPr wrap="square" rtlCol="0">
            <a:spAutoFit/>
          </a:bodyPr>
          <a:lstStyle/>
          <a:p>
            <a:pPr marL="457200" indent="-457200">
              <a:buFont typeface="Wingdings" panose="05000000000000000000" pitchFamily="2" charset="2"/>
              <a:buChar char="Ø"/>
            </a:pPr>
            <a:r>
              <a:rPr lang="en-US" sz="2800" b="1" dirty="0" smtClean="0">
                <a:latin typeface="Times New Roman" panose="02020603050405020304" pitchFamily="18" charset="0"/>
                <a:cs typeface="Times New Roman" panose="02020603050405020304" pitchFamily="18" charset="0"/>
              </a:rPr>
              <a:t>De-skilling </a:t>
            </a:r>
            <a:r>
              <a:rPr lang="en-US" sz="2800" b="1" dirty="0">
                <a:latin typeface="Times New Roman" panose="02020603050405020304" pitchFamily="18" charset="0"/>
                <a:cs typeface="Times New Roman" panose="02020603050405020304" pitchFamily="18" charset="0"/>
              </a:rPr>
              <a:t>of Staff: There is a fear that over-reliance on AI might lead to "automation bias," where medical staff stop double-checking the computer's work, potentially losing their own diagnostic "edge" over </a:t>
            </a:r>
            <a:r>
              <a:rPr lang="en-US" sz="2800" b="1" dirty="0" err="1">
                <a:latin typeface="Times New Roman" panose="02020603050405020304" pitchFamily="18" charset="0"/>
                <a:cs typeface="Times New Roman" panose="02020603050405020304" pitchFamily="18" charset="0"/>
              </a:rPr>
              <a:t>time.Comparison</a:t>
            </a:r>
            <a:r>
              <a:rPr lang="en-US" sz="2800" b="1" dirty="0">
                <a:latin typeface="Times New Roman" panose="02020603050405020304" pitchFamily="18" charset="0"/>
                <a:cs typeface="Times New Roman" panose="02020603050405020304" pitchFamily="18" charset="0"/>
              </a:rPr>
              <a:t> Table: Impact at a </a:t>
            </a:r>
            <a:r>
              <a:rPr lang="en-US" sz="2800" b="1" dirty="0" err="1">
                <a:latin typeface="Times New Roman" panose="02020603050405020304" pitchFamily="18" charset="0"/>
                <a:cs typeface="Times New Roman" panose="02020603050405020304" pitchFamily="18" charset="0"/>
              </a:rPr>
              <a:t>GlanceFeatureThe</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AdvantageThe</a:t>
            </a:r>
            <a:r>
              <a:rPr lang="en-US" sz="2800" b="1" dirty="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Disadvantage Diagnostics Early </a:t>
            </a:r>
            <a:r>
              <a:rPr lang="en-US" sz="2800" b="1" dirty="0">
                <a:latin typeface="Times New Roman" panose="02020603050405020304" pitchFamily="18" charset="0"/>
                <a:cs typeface="Times New Roman" panose="02020603050405020304" pitchFamily="18" charset="0"/>
              </a:rPr>
              <a:t>detection of rare </a:t>
            </a:r>
            <a:r>
              <a:rPr lang="en-US" sz="2800" b="1" dirty="0" err="1">
                <a:latin typeface="Times New Roman" panose="02020603050405020304" pitchFamily="18" charset="0"/>
                <a:cs typeface="Times New Roman" panose="02020603050405020304" pitchFamily="18" charset="0"/>
              </a:rPr>
              <a:t>diseases.Risk</a:t>
            </a:r>
            <a:r>
              <a:rPr lang="en-US" sz="2800" b="1" dirty="0">
                <a:latin typeface="Times New Roman" panose="02020603050405020304" pitchFamily="18" charset="0"/>
                <a:cs typeface="Times New Roman" panose="02020603050405020304" pitchFamily="18" charset="0"/>
              </a:rPr>
              <a:t> of "False Positives" causing </a:t>
            </a:r>
            <a:r>
              <a:rPr lang="en-US" sz="2800" b="1" dirty="0" err="1">
                <a:latin typeface="Times New Roman" panose="02020603050405020304" pitchFamily="18" charset="0"/>
                <a:cs typeface="Times New Roman" panose="02020603050405020304" pitchFamily="18" charset="0"/>
              </a:rPr>
              <a:t>anxiety.WorkflowRemoves</a:t>
            </a:r>
            <a:r>
              <a:rPr lang="en-US" sz="2800" b="1" dirty="0">
                <a:latin typeface="Times New Roman" panose="02020603050405020304" pitchFamily="18" charset="0"/>
                <a:cs typeface="Times New Roman" panose="02020603050405020304" pitchFamily="18" charset="0"/>
              </a:rPr>
              <a:t> boring </a:t>
            </a:r>
            <a:r>
              <a:rPr lang="en-US" sz="2800" b="1" dirty="0" err="1">
                <a:latin typeface="Times New Roman" panose="02020603050405020304" pitchFamily="18" charset="0"/>
                <a:cs typeface="Times New Roman" panose="02020603050405020304" pitchFamily="18" charset="0"/>
              </a:rPr>
              <a:t>paperwork.Requires</a:t>
            </a:r>
            <a:r>
              <a:rPr lang="en-US" sz="2800" b="1" dirty="0">
                <a:latin typeface="Times New Roman" panose="02020603050405020304" pitchFamily="18" charset="0"/>
                <a:cs typeface="Times New Roman" panose="02020603050405020304" pitchFamily="18" charset="0"/>
              </a:rPr>
              <a:t> intensive staff </a:t>
            </a:r>
            <a:r>
              <a:rPr lang="en-US" sz="2800" b="1" dirty="0" err="1">
                <a:latin typeface="Times New Roman" panose="02020603050405020304" pitchFamily="18" charset="0"/>
                <a:cs typeface="Times New Roman" panose="02020603050405020304" pitchFamily="18" charset="0"/>
              </a:rPr>
              <a:t>retraining.Patient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DataCreates</a:t>
            </a:r>
            <a:r>
              <a:rPr lang="en-US" sz="2800" b="1" dirty="0">
                <a:latin typeface="Times New Roman" panose="02020603050405020304" pitchFamily="18" charset="0"/>
                <a:cs typeface="Times New Roman" panose="02020603050405020304" pitchFamily="18" charset="0"/>
              </a:rPr>
              <a:t> a 360-degree health </a:t>
            </a:r>
            <a:r>
              <a:rPr lang="en-US" sz="2800" b="1" dirty="0" err="1">
                <a:latin typeface="Times New Roman" panose="02020603050405020304" pitchFamily="18" charset="0"/>
                <a:cs typeface="Times New Roman" panose="02020603050405020304" pitchFamily="18" charset="0"/>
              </a:rPr>
              <a:t>view.Creates</a:t>
            </a:r>
            <a:r>
              <a:rPr lang="en-US" sz="2800" b="1" dirty="0">
                <a:latin typeface="Times New Roman" panose="02020603050405020304" pitchFamily="18" charset="0"/>
                <a:cs typeface="Times New Roman" panose="02020603050405020304" pitchFamily="18" charset="0"/>
              </a:rPr>
              <a:t> a massive target for </a:t>
            </a:r>
            <a:r>
              <a:rPr lang="en-US" sz="2800" b="1" dirty="0" err="1">
                <a:latin typeface="Times New Roman" panose="02020603050405020304" pitchFamily="18" charset="0"/>
                <a:cs typeface="Times New Roman" panose="02020603050405020304" pitchFamily="18" charset="0"/>
              </a:rPr>
              <a:t>cyberattacks.Decision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MakingData</a:t>
            </a:r>
            <a:r>
              <a:rPr lang="en-US" sz="2800" b="1" dirty="0">
                <a:latin typeface="Times New Roman" panose="02020603050405020304" pitchFamily="18" charset="0"/>
                <a:cs typeface="Times New Roman" panose="02020603050405020304" pitchFamily="18" charset="0"/>
              </a:rPr>
              <a:t>-driven and </a:t>
            </a:r>
            <a:r>
              <a:rPr lang="en-US" sz="2800" b="1" dirty="0" err="1">
                <a:latin typeface="Times New Roman" panose="02020603050405020304" pitchFamily="18" charset="0"/>
                <a:cs typeface="Times New Roman" panose="02020603050405020304" pitchFamily="18" charset="0"/>
              </a:rPr>
              <a:t>objective.Lacks</a:t>
            </a:r>
            <a:r>
              <a:rPr lang="en-US" sz="2800" b="1" dirty="0">
                <a:latin typeface="Times New Roman" panose="02020603050405020304" pitchFamily="18" charset="0"/>
                <a:cs typeface="Times New Roman" panose="02020603050405020304" pitchFamily="18" charset="0"/>
              </a:rPr>
              <a:t> "human touch" and bedside </a:t>
            </a:r>
            <a:r>
              <a:rPr lang="en-US" sz="2800" b="1" dirty="0" err="1">
                <a:latin typeface="Times New Roman" panose="02020603050405020304" pitchFamily="18" charset="0"/>
                <a:cs typeface="Times New Roman" panose="02020603050405020304" pitchFamily="18" charset="0"/>
              </a:rPr>
              <a:t>manner.The</a:t>
            </a:r>
            <a:r>
              <a:rPr lang="en-US" sz="2800" b="1" dirty="0">
                <a:latin typeface="Times New Roman" panose="02020603050405020304" pitchFamily="18" charset="0"/>
                <a:cs typeface="Times New Roman" panose="02020603050405020304" pitchFamily="18" charset="0"/>
              </a:rPr>
              <a:t> Reality </a:t>
            </a:r>
            <a:r>
              <a:rPr lang="en-US" sz="2800" b="1" dirty="0" err="1">
                <a:latin typeface="Times New Roman" panose="02020603050405020304" pitchFamily="18" charset="0"/>
                <a:cs typeface="Times New Roman" panose="02020603050405020304" pitchFamily="18" charset="0"/>
              </a:rPr>
              <a:t>CheckMost</a:t>
            </a:r>
            <a:r>
              <a:rPr lang="en-US" sz="2800" b="1" dirty="0">
                <a:latin typeface="Times New Roman" panose="02020603050405020304" pitchFamily="18" charset="0"/>
                <a:cs typeface="Times New Roman" panose="02020603050405020304" pitchFamily="18" charset="0"/>
              </a:rPr>
              <a:t> hospitals in 2026 use a "Human-in-the-Loop" approach. This means the ML makes the suggestion, but a human professional must sign off on it. This mitigates the "Black Box" risk while keeping the speed of AI.</a:t>
            </a:r>
          </a:p>
          <a:p>
            <a:endParaRPr lang="en-US" b="1" dirty="0"/>
          </a:p>
          <a:p>
            <a:endParaRPr lang="en-US" dirty="0"/>
          </a:p>
        </p:txBody>
      </p:sp>
    </p:spTree>
    <p:extLst>
      <p:ext uri="{BB962C8B-B14F-4D97-AF65-F5344CB8AC3E}">
        <p14:creationId xmlns:p14="http://schemas.microsoft.com/office/powerpoint/2010/main" val="2901894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82" y="1"/>
            <a:ext cx="11515898" cy="7201972"/>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Case </a:t>
            </a:r>
            <a:r>
              <a:rPr lang="en-US" sz="3600" b="1" dirty="0" smtClean="0">
                <a:latin typeface="Times New Roman" panose="02020603050405020304" pitchFamily="18" charset="0"/>
                <a:cs typeface="Times New Roman" panose="02020603050405020304" pitchFamily="18" charset="0"/>
              </a:rPr>
              <a:t>Study:</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Technology &amp; Digital Management in </a:t>
            </a:r>
            <a:r>
              <a:rPr lang="en-US" sz="2400" b="1" dirty="0" smtClean="0">
                <a:latin typeface="Times New Roman" panose="02020603050405020304" pitchFamily="18" charset="0"/>
                <a:cs typeface="Times New Roman" panose="02020603050405020304" pitchFamily="18" charset="0"/>
              </a:rPr>
              <a:t>Hospitals</a:t>
            </a: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1. Background</a:t>
            </a:r>
          </a:p>
          <a:p>
            <a:pPr marL="342900" indent="-342900">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CityCare</a:t>
            </a:r>
            <a:r>
              <a:rPr lang="en-US" sz="2400" dirty="0">
                <a:latin typeface="Times New Roman" panose="02020603050405020304" pitchFamily="18" charset="0"/>
                <a:cs typeface="Times New Roman" panose="02020603050405020304" pitchFamily="18" charset="0"/>
              </a:rPr>
              <a:t> Hospital (a 500-bed multi-specialty hospital) was facing rising patient volumes, long waiting times, fragmented patient records, and high administrative costs. Most processes—appointments, medical records, billing, and inventory—were either paper-based or handled through disconnected systems. Management recognized that digital transformation was essential to improve efficiency, patient safety, and </a:t>
            </a:r>
            <a:r>
              <a:rPr lang="en-US" sz="2400" dirty="0" smtClean="0">
                <a:latin typeface="Times New Roman" panose="02020603050405020304" pitchFamily="18" charset="0"/>
                <a:cs typeface="Times New Roman" panose="02020603050405020304" pitchFamily="18" charset="0"/>
              </a:rPr>
              <a:t>decision-making.</a:t>
            </a:r>
          </a:p>
          <a:p>
            <a:pPr marL="342900" indent="-342900">
              <a:buFont typeface="Wingdings" panose="05000000000000000000" pitchFamily="2" charset="2"/>
              <a:buChar char="Ø"/>
            </a:pPr>
            <a:endParaRPr lang="en-US" sz="2400" dirty="0"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2. Problem Statement</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hospital faced several operational challenges:</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Delays in accessing patient medical records</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High chances of medical errors due to manual documentation</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Inefficient scheduling and long patient wait times</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Poor coordination between departments</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Limited data for strategic and clinical decision-making</a:t>
            </a:r>
          </a:p>
          <a:p>
            <a:endParaRPr lang="en-US" sz="2400" dirty="0" smtClean="0"/>
          </a:p>
          <a:p>
            <a:endParaRPr lang="en-US" sz="2400" dirty="0"/>
          </a:p>
          <a:p>
            <a:endParaRPr lang="en-US" dirty="0"/>
          </a:p>
        </p:txBody>
      </p:sp>
    </p:spTree>
    <p:extLst>
      <p:ext uri="{BB962C8B-B14F-4D97-AF65-F5344CB8AC3E}">
        <p14:creationId xmlns:p14="http://schemas.microsoft.com/office/powerpoint/2010/main" val="36932895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346363"/>
            <a:ext cx="11554691" cy="652486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3. Digital &amp; Technological </a:t>
            </a:r>
            <a:r>
              <a:rPr lang="en-US" sz="2000" b="1" dirty="0" smtClean="0">
                <a:latin typeface="Times New Roman" panose="02020603050405020304" pitchFamily="18" charset="0"/>
                <a:cs typeface="Times New Roman" panose="02020603050405020304" pitchFamily="18" charset="0"/>
              </a:rPr>
              <a:t>Interventions:</a:t>
            </a:r>
          </a:p>
          <a:p>
            <a:pPr marL="342900" indent="-3429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address these issues, </a:t>
            </a:r>
            <a:r>
              <a:rPr lang="en-US" sz="2000" dirty="0" err="1">
                <a:latin typeface="Times New Roman" panose="02020603050405020304" pitchFamily="18" charset="0"/>
                <a:cs typeface="Times New Roman" panose="02020603050405020304" pitchFamily="18" charset="0"/>
              </a:rPr>
              <a:t>CityCare</a:t>
            </a:r>
            <a:r>
              <a:rPr lang="en-US" sz="2000" dirty="0">
                <a:latin typeface="Times New Roman" panose="02020603050405020304" pitchFamily="18" charset="0"/>
                <a:cs typeface="Times New Roman" panose="02020603050405020304" pitchFamily="18" charset="0"/>
              </a:rPr>
              <a:t> Hospital implemented a </a:t>
            </a:r>
            <a:r>
              <a:rPr lang="en-US" sz="2000" b="1" dirty="0">
                <a:latin typeface="Times New Roman" panose="02020603050405020304" pitchFamily="18" charset="0"/>
                <a:cs typeface="Times New Roman" panose="02020603050405020304" pitchFamily="18" charset="0"/>
              </a:rPr>
              <a:t>Digital Hospital Management Strategy</a:t>
            </a:r>
            <a:r>
              <a:rPr lang="en-US" sz="2000" dirty="0">
                <a:latin typeface="Times New Roman" panose="02020603050405020304" pitchFamily="18" charset="0"/>
                <a:cs typeface="Times New Roman" panose="02020603050405020304" pitchFamily="18" charset="0"/>
              </a:rPr>
              <a:t>, including:</a:t>
            </a:r>
          </a:p>
          <a:p>
            <a:r>
              <a:rPr lang="en-US" sz="2000" b="1" dirty="0">
                <a:latin typeface="Times New Roman" panose="02020603050405020304" pitchFamily="18" charset="0"/>
                <a:cs typeface="Times New Roman" panose="02020603050405020304" pitchFamily="18" charset="0"/>
              </a:rPr>
              <a:t>a. Electronic Health Records (EHRs)</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Centralized digital patient records accessible across departments</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Reduced duplication of tests and paperwork</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Improved continuity of care</a:t>
            </a:r>
          </a:p>
          <a:p>
            <a:r>
              <a:rPr lang="en-US" sz="2000" b="1" dirty="0">
                <a:latin typeface="Times New Roman" panose="02020603050405020304" pitchFamily="18" charset="0"/>
                <a:cs typeface="Times New Roman" panose="02020603050405020304" pitchFamily="18" charset="0"/>
              </a:rPr>
              <a:t>b. Hospital Information System (HIS)</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Integrated modules for registration, billing, pharmacy, laboratory, and inventory</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Real-time tracking of resources such as beds and medical supplies</a:t>
            </a:r>
          </a:p>
          <a:p>
            <a:r>
              <a:rPr lang="en-US" sz="2000" b="1" dirty="0">
                <a:latin typeface="Times New Roman" panose="02020603050405020304" pitchFamily="18" charset="0"/>
                <a:cs typeface="Times New Roman" panose="02020603050405020304" pitchFamily="18" charset="0"/>
              </a:rPr>
              <a:t>c. Telemedicine Platforms</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Remote consultations for follow-up patients</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Reduced overcrowding in outpatient departments</a:t>
            </a:r>
          </a:p>
          <a:p>
            <a:r>
              <a:rPr lang="en-US" sz="2000" b="1" dirty="0">
                <a:latin typeface="Times New Roman" panose="02020603050405020304" pitchFamily="18" charset="0"/>
                <a:cs typeface="Times New Roman" panose="02020603050405020304" pitchFamily="18" charset="0"/>
              </a:rPr>
              <a:t>d. Data Analytics &amp; Dashboards</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Performance monitoring for doctors, departments, and patient outcomes</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Data-driven decision-making for hospital management</a:t>
            </a:r>
          </a:p>
          <a:p>
            <a:r>
              <a:rPr lang="en-US" sz="2000" b="1" dirty="0">
                <a:latin typeface="Times New Roman" panose="02020603050405020304" pitchFamily="18" charset="0"/>
                <a:cs typeface="Times New Roman" panose="02020603050405020304" pitchFamily="18" charset="0"/>
              </a:rPr>
              <a:t>e. Cybersecurity &amp; Data Governance</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Secure access controls and encryption</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Compliance with healthcare data protection regulations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60314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9382" y="346364"/>
            <a:ext cx="11679382" cy="581697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4. Role of Digital Management</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Hospital leadership created a </a:t>
            </a:r>
            <a:r>
              <a:rPr lang="en-US" sz="2400" b="1" dirty="0">
                <a:latin typeface="Times New Roman" panose="02020603050405020304" pitchFamily="18" charset="0"/>
                <a:cs typeface="Times New Roman" panose="02020603050405020304" pitchFamily="18" charset="0"/>
              </a:rPr>
              <a:t>Digital Management Team</a:t>
            </a:r>
            <a:r>
              <a:rPr lang="en-US" sz="2400" dirty="0">
                <a:latin typeface="Times New Roman" panose="02020603050405020304" pitchFamily="18" charset="0"/>
                <a:cs typeface="Times New Roman" panose="02020603050405020304" pitchFamily="18" charset="0"/>
              </a:rPr>
              <a:t> responsible for:</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Overseeing technology adoption</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Training medical and administrative staff</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Managing change and resistance</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Ensuring alignment between technology and hospital </a:t>
            </a:r>
            <a:r>
              <a:rPr lang="en-US" sz="2400" dirty="0" smtClean="0">
                <a:latin typeface="Times New Roman" panose="02020603050405020304" pitchFamily="18" charset="0"/>
                <a:cs typeface="Times New Roman" panose="02020603050405020304" pitchFamily="18" charset="0"/>
              </a:rPr>
              <a:t>strategy</a:t>
            </a:r>
          </a:p>
          <a:p>
            <a:pPr marL="285750" indent="-28575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5. Outcomes &amp; Results</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After one year of implementation:</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Patient waiting time reduced by </a:t>
            </a:r>
            <a:r>
              <a:rPr lang="en-US" sz="2400" b="1" dirty="0">
                <a:latin typeface="Times New Roman" panose="02020603050405020304" pitchFamily="18" charset="0"/>
                <a:cs typeface="Times New Roman" panose="02020603050405020304" pitchFamily="18" charset="0"/>
              </a:rPr>
              <a:t>30%</a:t>
            </a: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Medical documentation errors decreased significantly</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Administrative costs reduced by </a:t>
            </a:r>
            <a:r>
              <a:rPr lang="en-US" sz="2400" b="1" dirty="0">
                <a:latin typeface="Times New Roman" panose="02020603050405020304" pitchFamily="18" charset="0"/>
                <a:cs typeface="Times New Roman" panose="02020603050405020304" pitchFamily="18" charset="0"/>
              </a:rPr>
              <a:t>20%</a:t>
            </a: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Patient satisfaction scores improved</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Doctors and nurses spent more time on patient care rather than </a:t>
            </a:r>
            <a:r>
              <a:rPr lang="en-US" sz="2400" dirty="0" smtClean="0">
                <a:latin typeface="Times New Roman" panose="02020603050405020304" pitchFamily="18" charset="0"/>
                <a:cs typeface="Times New Roman" panose="02020603050405020304" pitchFamily="18" charset="0"/>
              </a:rPr>
              <a:t>paperwork                                                                                                                                                                                                                                                                                                                                                                                                                                                                                                                                                                                                                                                                                                                                                                                                                                                                                                                                                                                                                                                                                                                                                                                                                                                                                                                                                                                                                                                                                                                                                                                                                                                                                                                                                                                                                                                                                                                                                                                                                                                                                                                                                                                                                                                                                                                                                                                                                                                                                                                                                                                                                                                                                                                                                                                                                                                                                                                                                                                                                                                                                                                                                                                                                                                                                                                                                                                                                                                                                                                                                                                                                                                                                                                                                                                                                                                                                                                                                                                                                                                                                                                                                                                                                                                                                                                                                                                                                                                                                                                                                                                                                                                                                                                                                                                                                                                                                                                                                                                                                                                                                                                                                                                                                                                                                                                                                                                                                                                                                                                                                                                                                                                                                                                                                                                                                                                                                                                                                                                                                                                                                                                                                                                                                                                                                                                                                                                                                                                                                                                                                                                                                                                                                                                                                                                                                                                                                                                                                                                                                                                                                                                                                                                                                                                                                                                                                                                                                                                                                                                                                                                                                                                                                                                                                                                                                                                                                                                                                                                                                                                                                                                                                                                                                                                                                                                                                                                                                                                                                                                                                                                                                                                                                                                                                                                                                                                                                                       </a:t>
            </a:r>
            <a:endParaRPr lang="en-US" sz="2400" dirty="0">
              <a:latin typeface="Times New Roman" panose="02020603050405020304" pitchFamily="18" charset="0"/>
              <a:cs typeface="Times New Roman" panose="02020603050405020304" pitchFamily="18" charset="0"/>
            </a:endParaRPr>
          </a:p>
          <a:p>
            <a:endParaRPr lang="en-US" dirty="0"/>
          </a:p>
          <a:p>
            <a:endParaRPr lang="en-US" dirty="0"/>
          </a:p>
        </p:txBody>
      </p:sp>
    </p:spTree>
    <p:extLst>
      <p:ext uri="{BB962C8B-B14F-4D97-AF65-F5344CB8AC3E}">
        <p14:creationId xmlns:p14="http://schemas.microsoft.com/office/powerpoint/2010/main" val="231039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290945" y="457200"/>
            <a:ext cx="11610110" cy="4062651"/>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6. Challenges Faced</a:t>
            </a:r>
          </a:p>
          <a:p>
            <a:r>
              <a:rPr lang="en-US" sz="2400" dirty="0">
                <a:latin typeface="Times New Roman" panose="02020603050405020304" pitchFamily="18" charset="0"/>
                <a:cs typeface="Times New Roman" panose="02020603050405020304" pitchFamily="18" charset="0"/>
              </a:rPr>
              <a:t>Initial resistance from staff unfamiliar with digital tools</a:t>
            </a:r>
          </a:p>
          <a:p>
            <a:r>
              <a:rPr lang="en-US" sz="2400" dirty="0">
                <a:latin typeface="Times New Roman" panose="02020603050405020304" pitchFamily="18" charset="0"/>
                <a:cs typeface="Times New Roman" panose="02020603050405020304" pitchFamily="18" charset="0"/>
              </a:rPr>
              <a:t>High upfront investment costs</a:t>
            </a:r>
          </a:p>
          <a:p>
            <a:r>
              <a:rPr lang="en-US" sz="2400" dirty="0">
                <a:latin typeface="Times New Roman" panose="02020603050405020304" pitchFamily="18" charset="0"/>
                <a:cs typeface="Times New Roman" panose="02020603050405020304" pitchFamily="18" charset="0"/>
              </a:rPr>
              <a:t>Need for continuous training and system updates</a:t>
            </a:r>
          </a:p>
          <a:p>
            <a:endParaRPr lang="en-US" sz="2400" dirty="0" smtClean="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7. Conclusion</a:t>
            </a:r>
          </a:p>
          <a:p>
            <a:r>
              <a:rPr lang="en-US" sz="2400" dirty="0">
                <a:latin typeface="Times New Roman" panose="02020603050405020304" pitchFamily="18" charset="0"/>
                <a:cs typeface="Times New Roman" panose="02020603050405020304" pitchFamily="18" charset="0"/>
              </a:rPr>
              <a:t>The case of </a:t>
            </a:r>
            <a:r>
              <a:rPr lang="en-US" sz="2400" dirty="0" err="1">
                <a:latin typeface="Times New Roman" panose="02020603050405020304" pitchFamily="18" charset="0"/>
                <a:cs typeface="Times New Roman" panose="02020603050405020304" pitchFamily="18" charset="0"/>
              </a:rPr>
              <a:t>CityCare</a:t>
            </a:r>
            <a:r>
              <a:rPr lang="en-US" sz="2400" dirty="0">
                <a:latin typeface="Times New Roman" panose="02020603050405020304" pitchFamily="18" charset="0"/>
                <a:cs typeface="Times New Roman" panose="02020603050405020304" pitchFamily="18" charset="0"/>
              </a:rPr>
              <a:t> Hospital shows that </a:t>
            </a:r>
            <a:r>
              <a:rPr lang="en-US" sz="2400" b="1" dirty="0">
                <a:latin typeface="Times New Roman" panose="02020603050405020304" pitchFamily="18" charset="0"/>
                <a:cs typeface="Times New Roman" panose="02020603050405020304" pitchFamily="18" charset="0"/>
              </a:rPr>
              <a:t>technology alone is not enough</a:t>
            </a:r>
            <a:r>
              <a:rPr lang="en-US" sz="2400" dirty="0">
                <a:latin typeface="Times New Roman" panose="02020603050405020304" pitchFamily="18" charset="0"/>
                <a:cs typeface="Times New Roman" panose="02020603050405020304" pitchFamily="18" charset="0"/>
              </a:rPr>
              <a:t>. Effective </a:t>
            </a:r>
            <a:r>
              <a:rPr lang="en-US" sz="2400" b="1" dirty="0">
                <a:latin typeface="Times New Roman" panose="02020603050405020304" pitchFamily="18" charset="0"/>
                <a:cs typeface="Times New Roman" panose="02020603050405020304" pitchFamily="18" charset="0"/>
              </a:rPr>
              <a:t>digital management</a:t>
            </a:r>
            <a:r>
              <a:rPr lang="en-US" sz="2400" dirty="0">
                <a:latin typeface="Times New Roman" panose="02020603050405020304" pitchFamily="18" charset="0"/>
                <a:cs typeface="Times New Roman" panose="02020603050405020304" pitchFamily="18" charset="0"/>
              </a:rPr>
              <a:t>—including leadership, training, governance, and strategy—is essential to successfully transform hospital operations. When properly managed, digital technologies significantly improve efficiency, quality of care, and patient experience.</a:t>
            </a:r>
          </a:p>
          <a:p>
            <a:endParaRPr lang="en-US" dirty="0"/>
          </a:p>
        </p:txBody>
      </p:sp>
    </p:spTree>
    <p:extLst>
      <p:ext uri="{BB962C8B-B14F-4D97-AF65-F5344CB8AC3E}">
        <p14:creationId xmlns:p14="http://schemas.microsoft.com/office/powerpoint/2010/main" val="1648186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8206" y="221226"/>
            <a:ext cx="11090787" cy="618630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!DOCTYPE html&gt;</a:t>
            </a:r>
          </a:p>
          <a:p>
            <a:r>
              <a:rPr lang="en-US" dirty="0">
                <a:latin typeface="Times New Roman" panose="02020603050405020304" pitchFamily="18" charset="0"/>
                <a:cs typeface="Times New Roman" panose="02020603050405020304" pitchFamily="18" charset="0"/>
              </a:rPr>
              <a:t>&lt;html </a:t>
            </a:r>
            <a:r>
              <a:rPr lang="en-US" dirty="0" err="1">
                <a:latin typeface="Times New Roman" panose="02020603050405020304" pitchFamily="18" charset="0"/>
                <a:cs typeface="Times New Roman" panose="02020603050405020304" pitchFamily="18" charset="0"/>
              </a:rPr>
              <a:t>lang</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en</a:t>
            </a:r>
            <a:r>
              <a:rPr lang="en-US" dirty="0">
                <a:latin typeface="Times New Roman" panose="02020603050405020304" pitchFamily="18" charset="0"/>
                <a:cs typeface="Times New Roman" panose="02020603050405020304" pitchFamily="18" charset="0"/>
              </a:rPr>
              <a:t>"&gt;</a:t>
            </a:r>
          </a:p>
          <a:p>
            <a:r>
              <a:rPr lang="en-US" dirty="0">
                <a:latin typeface="Times New Roman" panose="02020603050405020304" pitchFamily="18" charset="0"/>
                <a:cs typeface="Times New Roman" panose="02020603050405020304" pitchFamily="18" charset="0"/>
              </a:rPr>
              <a:t>&lt;head&gt;</a:t>
            </a:r>
          </a:p>
          <a:p>
            <a:r>
              <a:rPr lang="en-US" dirty="0">
                <a:latin typeface="Times New Roman" panose="02020603050405020304" pitchFamily="18" charset="0"/>
                <a:cs typeface="Times New Roman" panose="02020603050405020304" pitchFamily="18" charset="0"/>
              </a:rPr>
              <a:t>&lt;meta charset="UTF-8"&gt;</a:t>
            </a:r>
          </a:p>
          <a:p>
            <a:r>
              <a:rPr lang="en-US" dirty="0">
                <a:latin typeface="Times New Roman" panose="02020603050405020304" pitchFamily="18" charset="0"/>
                <a:cs typeface="Times New Roman" panose="02020603050405020304" pitchFamily="18" charset="0"/>
              </a:rPr>
              <a:t>&lt;meta name="viewport" content="width=device-width, initial-scale=1.0"&gt;</a:t>
            </a:r>
          </a:p>
          <a:p>
            <a:r>
              <a:rPr lang="en-US" dirty="0">
                <a:latin typeface="Times New Roman" panose="02020603050405020304" pitchFamily="18" charset="0"/>
                <a:cs typeface="Times New Roman" panose="02020603050405020304" pitchFamily="18" charset="0"/>
              </a:rPr>
              <a:t>&lt;title&gt;Digital Hospital System&lt;/title&gt;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&lt;style&gt;</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margin:0;</a:t>
            </a:r>
          </a:p>
          <a:p>
            <a:r>
              <a:rPr lang="en-US" dirty="0">
                <a:latin typeface="Times New Roman" panose="02020603050405020304" pitchFamily="18" charset="0"/>
                <a:cs typeface="Times New Roman" panose="02020603050405020304" pitchFamily="18" charset="0"/>
              </a:rPr>
              <a:t>  padding:0;</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box-sizing:border-box</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font-family:'Segoe</a:t>
            </a:r>
            <a:r>
              <a:rPr lang="en-US" dirty="0">
                <a:latin typeface="Times New Roman" panose="02020603050405020304" pitchFamily="18" charset="0"/>
                <a:cs typeface="Times New Roman" panose="02020603050405020304" pitchFamily="18" charset="0"/>
              </a:rPr>
              <a:t> UI', sans-serif;</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body{</a:t>
            </a:r>
          </a:p>
          <a:p>
            <a:r>
              <a:rPr lang="en-US" dirty="0">
                <a:latin typeface="Times New Roman" panose="02020603050405020304" pitchFamily="18" charset="0"/>
                <a:cs typeface="Times New Roman" panose="02020603050405020304" pitchFamily="18" charset="0"/>
              </a:rPr>
              <a:t>  background:#0f172a;</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color:white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LOGIN */</a:t>
            </a:r>
          </a:p>
          <a:p>
            <a:r>
              <a:rPr lang="en-US" dirty="0">
                <a:latin typeface="Times New Roman" panose="02020603050405020304" pitchFamily="18" charset="0"/>
                <a:cs typeface="Times New Roman" panose="02020603050405020304" pitchFamily="18" charset="0"/>
              </a:rPr>
              <a:t>#login</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0570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0723" y="353961"/>
            <a:ext cx="11474245" cy="701730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position:fixed</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width:100%;</a:t>
            </a:r>
          </a:p>
          <a:p>
            <a:r>
              <a:rPr lang="en-US" dirty="0">
                <a:latin typeface="Times New Roman" panose="02020603050405020304" pitchFamily="18" charset="0"/>
                <a:cs typeface="Times New Roman" panose="02020603050405020304" pitchFamily="18" charset="0"/>
              </a:rPr>
              <a:t>  height:100%;</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display:flex</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justify-content:center</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align-items:center</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background:linear-gradient</a:t>
            </a:r>
            <a:r>
              <a:rPr lang="en-US" dirty="0">
                <a:latin typeface="Times New Roman" panose="02020603050405020304" pitchFamily="18" charset="0"/>
                <a:cs typeface="Times New Roman" panose="02020603050405020304" pitchFamily="18" charset="0"/>
              </a:rPr>
              <a:t>(135deg,#1e3c72,#2a5298);</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.login-box{</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background:white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color:black</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padding:30px;</a:t>
            </a:r>
          </a:p>
          <a:p>
            <a:r>
              <a:rPr lang="en-US" dirty="0">
                <a:latin typeface="Times New Roman" panose="02020603050405020304" pitchFamily="18" charset="0"/>
                <a:cs typeface="Times New Roman" panose="02020603050405020304" pitchFamily="18" charset="0"/>
              </a:rPr>
              <a:t>  border-radius:10px;</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text-align:center</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input{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display:block</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margin:10px auto;</a:t>
            </a:r>
          </a:p>
          <a:p>
            <a:r>
              <a:rPr lang="en-US" dirty="0">
                <a:latin typeface="Times New Roman" panose="02020603050405020304" pitchFamily="18" charset="0"/>
                <a:cs typeface="Times New Roman" panose="02020603050405020304" pitchFamily="18" charset="0"/>
              </a:rPr>
              <a:t>  padding:10px;</a:t>
            </a:r>
          </a:p>
          <a:p>
            <a:r>
              <a:rPr lang="en-US" dirty="0">
                <a:latin typeface="Times New Roman" panose="02020603050405020304" pitchFamily="18" charset="0"/>
                <a:cs typeface="Times New Roman" panose="02020603050405020304" pitchFamily="18" charset="0"/>
              </a:rPr>
              <a:t>  width:220px;</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8713089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2736" y="117693"/>
            <a:ext cx="11916697" cy="674030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button{</a:t>
            </a:r>
          </a:p>
          <a:p>
            <a:r>
              <a:rPr lang="en-US" dirty="0">
                <a:latin typeface="Times New Roman" panose="02020603050405020304" pitchFamily="18" charset="0"/>
                <a:cs typeface="Times New Roman" panose="02020603050405020304" pitchFamily="18" charset="0"/>
              </a:rPr>
              <a:t>  padding:10px 20px;</a:t>
            </a:r>
          </a:p>
          <a:p>
            <a:r>
              <a:rPr lang="en-US" dirty="0">
                <a:latin typeface="Times New Roman" panose="02020603050405020304" pitchFamily="18" charset="0"/>
                <a:cs typeface="Times New Roman" panose="02020603050405020304" pitchFamily="18" charset="0"/>
              </a:rPr>
              <a:t>  background:#0072ff;</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color:white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border:none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cursor:pointer</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MAIN */</a:t>
            </a:r>
          </a:p>
          <a:p>
            <a:r>
              <a:rPr lang="en-US" dirty="0">
                <a:latin typeface="Times New Roman" panose="02020603050405020304" pitchFamily="18" charset="0"/>
                <a:cs typeface="Times New Roman" panose="02020603050405020304" pitchFamily="18" charset="0"/>
              </a:rPr>
              <a:t>.main{</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display:flex</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SIDEBAR */</a:t>
            </a:r>
          </a:p>
          <a:p>
            <a:r>
              <a:rPr lang="en-US" dirty="0">
                <a:latin typeface="Times New Roman" panose="02020603050405020304" pitchFamily="18" charset="0"/>
                <a:cs typeface="Times New Roman" panose="02020603050405020304" pitchFamily="18" charset="0"/>
              </a:rPr>
              <a:t>.sidebar{</a:t>
            </a:r>
          </a:p>
          <a:p>
            <a:r>
              <a:rPr lang="en-US" dirty="0">
                <a:latin typeface="Times New Roman" panose="02020603050405020304" pitchFamily="18" charset="0"/>
                <a:cs typeface="Times New Roman" panose="02020603050405020304" pitchFamily="18" charset="0"/>
              </a:rPr>
              <a:t>  width:220px;</a:t>
            </a:r>
          </a:p>
          <a:p>
            <a:r>
              <a:rPr lang="en-US" dirty="0">
                <a:latin typeface="Times New Roman" panose="02020603050405020304" pitchFamily="18" charset="0"/>
                <a:cs typeface="Times New Roman" panose="02020603050405020304" pitchFamily="18" charset="0"/>
              </a:rPr>
              <a:t>  background:#020617;</a:t>
            </a:r>
          </a:p>
          <a:p>
            <a:r>
              <a:rPr lang="en-US" dirty="0">
                <a:latin typeface="Times New Roman" panose="02020603050405020304" pitchFamily="18" charset="0"/>
                <a:cs typeface="Times New Roman" panose="02020603050405020304" pitchFamily="18" charset="0"/>
              </a:rPr>
              <a:t>  height:100vh;</a:t>
            </a:r>
          </a:p>
          <a:p>
            <a:r>
              <a:rPr lang="en-US" dirty="0">
                <a:latin typeface="Times New Roman" panose="02020603050405020304" pitchFamily="18" charset="0"/>
                <a:cs typeface="Times New Roman" panose="02020603050405020304" pitchFamily="18" charset="0"/>
              </a:rPr>
              <a:t>  padding:20px;</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position:fixed</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.sidebar div{</a:t>
            </a:r>
          </a:p>
          <a:p>
            <a:r>
              <a:rPr lang="en-US" dirty="0">
                <a:latin typeface="Times New Roman" panose="02020603050405020304" pitchFamily="18" charset="0"/>
                <a:cs typeface="Times New Roman" panose="02020603050405020304" pitchFamily="18" charset="0"/>
              </a:rPr>
              <a:t>  padding:10px</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07470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2232" y="309715"/>
            <a:ext cx="11857703" cy="674030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cursor:pointer</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.sidebar </a:t>
            </a:r>
            <a:r>
              <a:rPr lang="en-US" dirty="0" err="1">
                <a:latin typeface="Times New Roman" panose="02020603050405020304" pitchFamily="18" charset="0"/>
                <a:cs typeface="Times New Roman" panose="02020603050405020304" pitchFamily="18" charset="0"/>
              </a:rPr>
              <a:t>div:hover</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background:#1e293b;</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CONTENT */</a:t>
            </a:r>
          </a:p>
          <a:p>
            <a:r>
              <a:rPr lang="en-US" dirty="0">
                <a:latin typeface="Times New Roman" panose="02020603050405020304" pitchFamily="18" charset="0"/>
                <a:cs typeface="Times New Roman" panose="02020603050405020304" pitchFamily="18" charset="0"/>
              </a:rPr>
              <a:t>.content{</a:t>
            </a:r>
          </a:p>
          <a:p>
            <a:r>
              <a:rPr lang="en-US" dirty="0">
                <a:latin typeface="Times New Roman" panose="02020603050405020304" pitchFamily="18" charset="0"/>
                <a:cs typeface="Times New Roman" panose="02020603050405020304" pitchFamily="18" charset="0"/>
              </a:rPr>
              <a:t>  margin-left:220px;</a:t>
            </a:r>
          </a:p>
          <a:p>
            <a:r>
              <a:rPr lang="en-US" dirty="0">
                <a:latin typeface="Times New Roman" panose="02020603050405020304" pitchFamily="18" charset="0"/>
                <a:cs typeface="Times New Roman" panose="02020603050405020304" pitchFamily="18" charset="0"/>
              </a:rPr>
              <a:t>  padding:20px;</a:t>
            </a:r>
          </a:p>
          <a:p>
            <a:r>
              <a:rPr lang="en-US" dirty="0">
                <a:latin typeface="Times New Roman" panose="02020603050405020304" pitchFamily="18" charset="0"/>
                <a:cs typeface="Times New Roman" panose="02020603050405020304" pitchFamily="18" charset="0"/>
              </a:rPr>
              <a:t>  width:100%;</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.section{</a:t>
            </a:r>
            <a:r>
              <a:rPr lang="en-US" dirty="0" err="1">
                <a:latin typeface="Times New Roman" panose="02020603050405020304" pitchFamily="18" charset="0"/>
                <a:cs typeface="Times New Roman" panose="02020603050405020304" pitchFamily="18" charset="0"/>
              </a:rPr>
              <a:t>display:none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section.active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display:block</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TABLE */</a:t>
            </a:r>
          </a:p>
          <a:p>
            <a:r>
              <a:rPr lang="en-US" dirty="0">
                <a:latin typeface="Times New Roman" panose="02020603050405020304" pitchFamily="18" charset="0"/>
                <a:cs typeface="Times New Roman" panose="02020603050405020304" pitchFamily="18" charset="0"/>
              </a:rPr>
              <a:t>table{</a:t>
            </a:r>
          </a:p>
          <a:p>
            <a:r>
              <a:rPr lang="en-US" dirty="0">
                <a:latin typeface="Times New Roman" panose="02020603050405020304" pitchFamily="18" charset="0"/>
                <a:cs typeface="Times New Roman" panose="02020603050405020304" pitchFamily="18" charset="0"/>
              </a:rPr>
              <a:t>  width:100%;</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border-collapse:collapse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10147029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7484" y="206477"/>
            <a:ext cx="11798710" cy="7017306"/>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th,td</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padding:10px;</a:t>
            </a:r>
          </a:p>
          <a:p>
            <a:r>
              <a:rPr lang="en-US" dirty="0">
                <a:latin typeface="Times New Roman" panose="02020603050405020304" pitchFamily="18" charset="0"/>
                <a:cs typeface="Times New Roman" panose="02020603050405020304" pitchFamily="18" charset="0"/>
              </a:rPr>
              <a:t>  border:1px solid gray;</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&lt;/style&gt;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&lt;/head&gt;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&lt;body&gt;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&lt;!-- LOGIN PAGE --&gt;</a:t>
            </a:r>
          </a:p>
          <a:p>
            <a:r>
              <a:rPr lang="en-US" dirty="0">
                <a:latin typeface="Times New Roman" panose="02020603050405020304" pitchFamily="18" charset="0"/>
                <a:cs typeface="Times New Roman" panose="02020603050405020304" pitchFamily="18" charset="0"/>
              </a:rPr>
              <a:t>&lt;div id="login"&gt;</a:t>
            </a:r>
          </a:p>
          <a:p>
            <a:r>
              <a:rPr lang="en-US" dirty="0">
                <a:latin typeface="Times New Roman" panose="02020603050405020304" pitchFamily="18" charset="0"/>
                <a:cs typeface="Times New Roman" panose="02020603050405020304" pitchFamily="18" charset="0"/>
              </a:rPr>
              <a:t>  &lt;div class="login-box"&gt;</a:t>
            </a:r>
          </a:p>
          <a:p>
            <a:r>
              <a:rPr lang="en-US" dirty="0">
                <a:latin typeface="Times New Roman" panose="02020603050405020304" pitchFamily="18" charset="0"/>
                <a:cs typeface="Times New Roman" panose="02020603050405020304" pitchFamily="18" charset="0"/>
              </a:rPr>
              <a:t>    &lt;h2&gt;Hospital Login&lt;/h2&gt;</a:t>
            </a:r>
          </a:p>
          <a:p>
            <a:r>
              <a:rPr lang="en-US" dirty="0">
                <a:latin typeface="Times New Roman" panose="02020603050405020304" pitchFamily="18" charset="0"/>
                <a:cs typeface="Times New Roman" panose="02020603050405020304" pitchFamily="18" charset="0"/>
              </a:rPr>
              <a:t>    &lt;input id="username" placeholder="Username"&gt;</a:t>
            </a:r>
          </a:p>
          <a:p>
            <a:r>
              <a:rPr lang="en-US" dirty="0">
                <a:latin typeface="Times New Roman" panose="02020603050405020304" pitchFamily="18" charset="0"/>
                <a:cs typeface="Times New Roman" panose="02020603050405020304" pitchFamily="18" charset="0"/>
              </a:rPr>
              <a:t>    &lt;input id="password" type="password" placeholder="Password"&gt;</a:t>
            </a:r>
          </a:p>
          <a:p>
            <a:r>
              <a:rPr lang="en-US" dirty="0">
                <a:latin typeface="Times New Roman" panose="02020603050405020304" pitchFamily="18" charset="0"/>
                <a:cs typeface="Times New Roman" panose="02020603050405020304" pitchFamily="18" charset="0"/>
              </a:rPr>
              <a:t>    &lt;button </a:t>
            </a:r>
            <a:r>
              <a:rPr lang="en-US" dirty="0" err="1">
                <a:latin typeface="Times New Roman" panose="02020603050405020304" pitchFamily="18" charset="0"/>
                <a:cs typeface="Times New Roman" panose="02020603050405020304" pitchFamily="18" charset="0"/>
              </a:rPr>
              <a:t>onclick</a:t>
            </a:r>
            <a:r>
              <a:rPr lang="en-US" dirty="0">
                <a:latin typeface="Times New Roman" panose="02020603050405020304" pitchFamily="18" charset="0"/>
                <a:cs typeface="Times New Roman" panose="02020603050405020304" pitchFamily="18" charset="0"/>
              </a:rPr>
              <a:t>="login()"&gt;Login&lt;/button&gt;</a:t>
            </a:r>
          </a:p>
          <a:p>
            <a:r>
              <a:rPr lang="en-US" dirty="0">
                <a:latin typeface="Times New Roman" panose="02020603050405020304" pitchFamily="18" charset="0"/>
                <a:cs typeface="Times New Roman" panose="02020603050405020304" pitchFamily="18" charset="0"/>
              </a:rPr>
              <a:t>  &lt;/div&gt;</a:t>
            </a:r>
          </a:p>
          <a:p>
            <a:r>
              <a:rPr lang="en-US" dirty="0">
                <a:latin typeface="Times New Roman" panose="02020603050405020304" pitchFamily="18" charset="0"/>
                <a:cs typeface="Times New Roman" panose="02020603050405020304" pitchFamily="18" charset="0"/>
              </a:rPr>
              <a:t>&lt;/div&gt;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&lt;!-- MAIN APP --&gt;</a:t>
            </a:r>
          </a:p>
          <a:p>
            <a:r>
              <a:rPr lang="en-US" dirty="0">
                <a:latin typeface="Times New Roman" panose="02020603050405020304" pitchFamily="18" charset="0"/>
                <a:cs typeface="Times New Roman" panose="02020603050405020304" pitchFamily="18" charset="0"/>
              </a:rPr>
              <a:t>&lt;div id="app" style="</a:t>
            </a:r>
            <a:r>
              <a:rPr lang="en-US" dirty="0" err="1">
                <a:latin typeface="Times New Roman" panose="02020603050405020304" pitchFamily="18" charset="0"/>
                <a:cs typeface="Times New Roman" panose="02020603050405020304" pitchFamily="18" charset="0"/>
              </a:rPr>
              <a:t>display:none</a:t>
            </a:r>
            <a:r>
              <a:rPr lang="en-US" dirty="0">
                <a:latin typeface="Times New Roman" panose="02020603050405020304" pitchFamily="18" charset="0"/>
                <a:cs typeface="Times New Roman" panose="02020603050405020304" pitchFamily="18" charset="0"/>
              </a:rPr>
              <a:t>;" class="main"&gt;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&lt;!-- SIDEBAR --&gt;</a:t>
            </a:r>
          </a:p>
          <a:p>
            <a:r>
              <a:rPr lang="en-US" dirty="0">
                <a:latin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38536727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7987" y="250723"/>
            <a:ext cx="11887200" cy="701730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&lt;div class="sidebar"&gt;</a:t>
            </a:r>
          </a:p>
          <a:p>
            <a:r>
              <a:rPr lang="en-US" dirty="0">
                <a:latin typeface="Times New Roman" panose="02020603050405020304" pitchFamily="18" charset="0"/>
                <a:cs typeface="Times New Roman" panose="02020603050405020304" pitchFamily="18" charset="0"/>
              </a:rPr>
              <a:t>    &lt;h3&gt;Hospital&lt;/h3&gt;</a:t>
            </a:r>
          </a:p>
          <a:p>
            <a:r>
              <a:rPr lang="en-US" dirty="0">
                <a:latin typeface="Times New Roman" panose="02020603050405020304" pitchFamily="18" charset="0"/>
                <a:cs typeface="Times New Roman" panose="02020603050405020304" pitchFamily="18" charset="0"/>
              </a:rPr>
              <a:t>    &lt;div </a:t>
            </a:r>
            <a:r>
              <a:rPr lang="en-US" dirty="0" err="1">
                <a:latin typeface="Times New Roman" panose="02020603050405020304" pitchFamily="18" charset="0"/>
                <a:cs typeface="Times New Roman" panose="02020603050405020304" pitchFamily="18" charset="0"/>
              </a:rPr>
              <a:t>onclick</a:t>
            </a:r>
            <a:r>
              <a:rPr lang="en-US" dirty="0">
                <a:latin typeface="Times New Roman" panose="02020603050405020304" pitchFamily="18" charset="0"/>
                <a:cs typeface="Times New Roman" panose="02020603050405020304" pitchFamily="18" charset="0"/>
              </a:rPr>
              <a:t>="show('dashboard')"&gt;Dashboard&lt;/div&gt;</a:t>
            </a:r>
          </a:p>
          <a:p>
            <a:r>
              <a:rPr lang="en-US" dirty="0">
                <a:latin typeface="Times New Roman" panose="02020603050405020304" pitchFamily="18" charset="0"/>
                <a:cs typeface="Times New Roman" panose="02020603050405020304" pitchFamily="18" charset="0"/>
              </a:rPr>
              <a:t>    &lt;div </a:t>
            </a:r>
            <a:r>
              <a:rPr lang="en-US" dirty="0" err="1">
                <a:latin typeface="Times New Roman" panose="02020603050405020304" pitchFamily="18" charset="0"/>
                <a:cs typeface="Times New Roman" panose="02020603050405020304" pitchFamily="18" charset="0"/>
              </a:rPr>
              <a:t>onclick</a:t>
            </a:r>
            <a:r>
              <a:rPr lang="en-US" dirty="0">
                <a:latin typeface="Times New Roman" panose="02020603050405020304" pitchFamily="18" charset="0"/>
                <a:cs typeface="Times New Roman" panose="02020603050405020304" pitchFamily="18" charset="0"/>
              </a:rPr>
              <a:t>="show('patients')"&gt;Patients&lt;/div&gt;</a:t>
            </a:r>
          </a:p>
          <a:p>
            <a:r>
              <a:rPr lang="en-US" dirty="0">
                <a:latin typeface="Times New Roman" panose="02020603050405020304" pitchFamily="18" charset="0"/>
                <a:cs typeface="Times New Roman" panose="02020603050405020304" pitchFamily="18" charset="0"/>
              </a:rPr>
              <a:t>    &lt;div </a:t>
            </a:r>
            <a:r>
              <a:rPr lang="en-US" dirty="0" err="1">
                <a:latin typeface="Times New Roman" panose="02020603050405020304" pitchFamily="18" charset="0"/>
                <a:cs typeface="Times New Roman" panose="02020603050405020304" pitchFamily="18" charset="0"/>
              </a:rPr>
              <a:t>onclick</a:t>
            </a:r>
            <a:r>
              <a:rPr lang="en-US" dirty="0">
                <a:latin typeface="Times New Roman" panose="02020603050405020304" pitchFamily="18" charset="0"/>
                <a:cs typeface="Times New Roman" panose="02020603050405020304" pitchFamily="18" charset="0"/>
              </a:rPr>
              <a:t>="show('doctors')"&gt;Doctors&lt;/div&gt;</a:t>
            </a:r>
          </a:p>
          <a:p>
            <a:r>
              <a:rPr lang="en-US" dirty="0">
                <a:latin typeface="Times New Roman" panose="02020603050405020304" pitchFamily="18" charset="0"/>
                <a:cs typeface="Times New Roman" panose="02020603050405020304" pitchFamily="18" charset="0"/>
              </a:rPr>
              <a:t>    &lt;div </a:t>
            </a:r>
            <a:r>
              <a:rPr lang="en-US" dirty="0" err="1">
                <a:latin typeface="Times New Roman" panose="02020603050405020304" pitchFamily="18" charset="0"/>
                <a:cs typeface="Times New Roman" panose="02020603050405020304" pitchFamily="18" charset="0"/>
              </a:rPr>
              <a:t>onclick</a:t>
            </a:r>
            <a:r>
              <a:rPr lang="en-US" dirty="0">
                <a:latin typeface="Times New Roman" panose="02020603050405020304" pitchFamily="18" charset="0"/>
                <a:cs typeface="Times New Roman" panose="02020603050405020304" pitchFamily="18" charset="0"/>
              </a:rPr>
              <a:t>="show('appointments')"&gt;Appointments&lt;/div&gt;</a:t>
            </a:r>
          </a:p>
          <a:p>
            <a:r>
              <a:rPr lang="en-US" dirty="0">
                <a:latin typeface="Times New Roman" panose="02020603050405020304" pitchFamily="18" charset="0"/>
                <a:cs typeface="Times New Roman" panose="02020603050405020304" pitchFamily="18" charset="0"/>
              </a:rPr>
              <a:t>    &lt;div </a:t>
            </a:r>
            <a:r>
              <a:rPr lang="en-US" dirty="0" err="1">
                <a:latin typeface="Times New Roman" panose="02020603050405020304" pitchFamily="18" charset="0"/>
                <a:cs typeface="Times New Roman" panose="02020603050405020304" pitchFamily="18" charset="0"/>
              </a:rPr>
              <a:t>onclick</a:t>
            </a:r>
            <a:r>
              <a:rPr lang="en-US" dirty="0">
                <a:latin typeface="Times New Roman" panose="02020603050405020304" pitchFamily="18" charset="0"/>
                <a:cs typeface="Times New Roman" panose="02020603050405020304" pitchFamily="18" charset="0"/>
              </a:rPr>
              <a:t>="show('pharmacy')"&gt;Pharmacy&lt;/div&gt;</a:t>
            </a:r>
          </a:p>
          <a:p>
            <a:r>
              <a:rPr lang="en-US" dirty="0">
                <a:latin typeface="Times New Roman" panose="02020603050405020304" pitchFamily="18" charset="0"/>
                <a:cs typeface="Times New Roman" panose="02020603050405020304" pitchFamily="18" charset="0"/>
              </a:rPr>
              <a:t>    &lt;div </a:t>
            </a:r>
            <a:r>
              <a:rPr lang="en-US" dirty="0" err="1">
                <a:latin typeface="Times New Roman" panose="02020603050405020304" pitchFamily="18" charset="0"/>
                <a:cs typeface="Times New Roman" panose="02020603050405020304" pitchFamily="18" charset="0"/>
              </a:rPr>
              <a:t>onclick</a:t>
            </a:r>
            <a:r>
              <a:rPr lang="en-US" dirty="0">
                <a:latin typeface="Times New Roman" panose="02020603050405020304" pitchFamily="18" charset="0"/>
                <a:cs typeface="Times New Roman" panose="02020603050405020304" pitchFamily="18" charset="0"/>
              </a:rPr>
              <a:t>="show('analytics')"&gt;Analytics&lt;/div&gt;</a:t>
            </a:r>
          </a:p>
          <a:p>
            <a:r>
              <a:rPr lang="en-US" dirty="0">
                <a:latin typeface="Times New Roman" panose="02020603050405020304" pitchFamily="18" charset="0"/>
                <a:cs typeface="Times New Roman" panose="02020603050405020304" pitchFamily="18" charset="0"/>
              </a:rPr>
              <a:t>    &lt;div </a:t>
            </a:r>
            <a:r>
              <a:rPr lang="en-US" dirty="0" err="1">
                <a:latin typeface="Times New Roman" panose="02020603050405020304" pitchFamily="18" charset="0"/>
                <a:cs typeface="Times New Roman" panose="02020603050405020304" pitchFamily="18" charset="0"/>
              </a:rPr>
              <a:t>onclick</a:t>
            </a:r>
            <a:r>
              <a:rPr lang="en-US" dirty="0">
                <a:latin typeface="Times New Roman" panose="02020603050405020304" pitchFamily="18" charset="0"/>
                <a:cs typeface="Times New Roman" panose="02020603050405020304" pitchFamily="18" charset="0"/>
              </a:rPr>
              <a:t>="show('contact')"&gt;Contact&lt;/div&gt;</a:t>
            </a:r>
          </a:p>
          <a:p>
            <a:r>
              <a:rPr lang="en-US" dirty="0">
                <a:latin typeface="Times New Roman" panose="02020603050405020304" pitchFamily="18" charset="0"/>
                <a:cs typeface="Times New Roman" panose="02020603050405020304" pitchFamily="18" charset="0"/>
              </a:rPr>
              <a:t>    &lt;div </a:t>
            </a:r>
            <a:r>
              <a:rPr lang="en-US" dirty="0" err="1">
                <a:latin typeface="Times New Roman" panose="02020603050405020304" pitchFamily="18" charset="0"/>
                <a:cs typeface="Times New Roman" panose="02020603050405020304" pitchFamily="18" charset="0"/>
              </a:rPr>
              <a:t>onclick</a:t>
            </a:r>
            <a:r>
              <a:rPr lang="en-US" dirty="0">
                <a:latin typeface="Times New Roman" panose="02020603050405020304" pitchFamily="18" charset="0"/>
                <a:cs typeface="Times New Roman" panose="02020603050405020304" pitchFamily="18" charset="0"/>
              </a:rPr>
              <a:t>="logout()"&gt;Logout&lt;/div&gt;</a:t>
            </a:r>
          </a:p>
          <a:p>
            <a:r>
              <a:rPr lang="en-US" dirty="0">
                <a:latin typeface="Times New Roman" panose="02020603050405020304" pitchFamily="18" charset="0"/>
                <a:cs typeface="Times New Roman" panose="02020603050405020304" pitchFamily="18" charset="0"/>
              </a:rPr>
              <a:t>  &lt;/div&gt;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&lt;!-- CONTENT --&gt;</a:t>
            </a:r>
          </a:p>
          <a:p>
            <a:r>
              <a:rPr lang="en-US" dirty="0">
                <a:latin typeface="Times New Roman" panose="02020603050405020304" pitchFamily="18" charset="0"/>
                <a:cs typeface="Times New Roman" panose="02020603050405020304" pitchFamily="18" charset="0"/>
              </a:rPr>
              <a:t>  &lt;div class="content"&gt;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&lt;h1 id="welcome"&gt;&lt;/h1&gt;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&lt;!-- DASHBOARD --&gt;</a:t>
            </a:r>
          </a:p>
          <a:p>
            <a:r>
              <a:rPr lang="en-US" dirty="0">
                <a:latin typeface="Times New Roman" panose="02020603050405020304" pitchFamily="18" charset="0"/>
                <a:cs typeface="Times New Roman" panose="02020603050405020304" pitchFamily="18" charset="0"/>
              </a:rPr>
              <a:t>    &lt;div id="dashboard" class="section active"&gt;</a:t>
            </a:r>
          </a:p>
          <a:p>
            <a:r>
              <a:rPr lang="en-US" dirty="0">
                <a:latin typeface="Times New Roman" panose="02020603050405020304" pitchFamily="18" charset="0"/>
                <a:cs typeface="Times New Roman" panose="02020603050405020304" pitchFamily="18" charset="0"/>
              </a:rPr>
              <a:t>      &lt;h2&gt;Dashboard&lt;/h2&gt;</a:t>
            </a:r>
          </a:p>
          <a:p>
            <a:r>
              <a:rPr lang="en-US" dirty="0">
                <a:latin typeface="Times New Roman" panose="02020603050405020304" pitchFamily="18" charset="0"/>
                <a:cs typeface="Times New Roman" panose="02020603050405020304" pitchFamily="18" charset="0"/>
              </a:rPr>
              <a:t>      &lt;p&gt;Total Patients: 1200&lt;/p&gt;</a:t>
            </a:r>
          </a:p>
          <a:p>
            <a:r>
              <a:rPr lang="en-US" dirty="0">
                <a:latin typeface="Times New Roman" panose="02020603050405020304" pitchFamily="18" charset="0"/>
                <a:cs typeface="Times New Roman" panose="02020603050405020304" pitchFamily="18" charset="0"/>
              </a:rPr>
              <a:t>      &lt;p&gt;Appointments Today: 85&lt;/p&gt;</a:t>
            </a:r>
          </a:p>
          <a:p>
            <a:r>
              <a:rPr lang="en-US" dirty="0">
                <a:latin typeface="Times New Roman" panose="02020603050405020304" pitchFamily="18" charset="0"/>
                <a:cs typeface="Times New Roman" panose="02020603050405020304" pitchFamily="18" charset="0"/>
              </a:rPr>
              <a:t>    &lt;/div&gt;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30776892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1842955" cy="701730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&lt;!-- PATIENTS --&gt;</a:t>
            </a:r>
          </a:p>
          <a:p>
            <a:r>
              <a:rPr lang="en-US" dirty="0">
                <a:latin typeface="Times New Roman" panose="02020603050405020304" pitchFamily="18" charset="0"/>
                <a:cs typeface="Times New Roman" panose="02020603050405020304" pitchFamily="18" charset="0"/>
              </a:rPr>
              <a:t>    &lt;div id="patients" class="section"&gt;</a:t>
            </a:r>
          </a:p>
          <a:p>
            <a:r>
              <a:rPr lang="en-US" dirty="0">
                <a:latin typeface="Times New Roman" panose="02020603050405020304" pitchFamily="18" charset="0"/>
                <a:cs typeface="Times New Roman" panose="02020603050405020304" pitchFamily="18" charset="0"/>
              </a:rPr>
              <a:t>      &lt;h2&gt;Patient Details&lt;/h2&gt;</a:t>
            </a:r>
          </a:p>
          <a:p>
            <a:r>
              <a:rPr lang="en-US" dirty="0">
                <a:latin typeface="Times New Roman" panose="02020603050405020304" pitchFamily="18" charset="0"/>
                <a:cs typeface="Times New Roman" panose="02020603050405020304" pitchFamily="18" charset="0"/>
              </a:rPr>
              <a:t>      &lt;table&gt;</a:t>
            </a:r>
          </a:p>
          <a:p>
            <a:r>
              <a:rPr lang="en-US" dirty="0">
                <a:latin typeface="Times New Roman" panose="02020603050405020304" pitchFamily="18" charset="0"/>
                <a:cs typeface="Times New Roman" panose="02020603050405020304" pitchFamily="18" charset="0"/>
              </a:rPr>
              <a:t>        &lt;</a:t>
            </a:r>
            <a:r>
              <a:rPr lang="en-US" dirty="0" err="1">
                <a:latin typeface="Times New Roman" panose="02020603050405020304" pitchFamily="18" charset="0"/>
                <a:cs typeface="Times New Roman" panose="02020603050405020304" pitchFamily="18" charset="0"/>
              </a:rPr>
              <a:t>tr</a:t>
            </a:r>
            <a:r>
              <a:rPr lang="en-US" dirty="0">
                <a:latin typeface="Times New Roman" panose="02020603050405020304" pitchFamily="18" charset="0"/>
                <a:cs typeface="Times New Roman" panose="02020603050405020304" pitchFamily="18" charset="0"/>
              </a:rPr>
              <a:t>&gt;&lt;</a:t>
            </a:r>
            <a:r>
              <a:rPr lang="en-US" dirty="0" err="1">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&gt;Name&lt;/</a:t>
            </a:r>
            <a:r>
              <a:rPr lang="en-US" dirty="0" err="1">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&gt;&lt;</a:t>
            </a:r>
            <a:r>
              <a:rPr lang="en-US" dirty="0" err="1">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&gt;Age&lt;/</a:t>
            </a:r>
            <a:r>
              <a:rPr lang="en-US" dirty="0" err="1">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&gt;&lt;</a:t>
            </a:r>
            <a:r>
              <a:rPr lang="en-US" dirty="0" err="1">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&gt;Disease&lt;/</a:t>
            </a:r>
            <a:r>
              <a:rPr lang="en-US" dirty="0" err="1">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&gt;&lt;</a:t>
            </a:r>
            <a:r>
              <a:rPr lang="en-US" dirty="0" err="1">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&gt;Doctor&lt;/</a:t>
            </a:r>
            <a:r>
              <a:rPr lang="en-US" dirty="0" err="1">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&gt;&lt;/</a:t>
            </a:r>
            <a:r>
              <a:rPr lang="en-US" dirty="0" err="1">
                <a:latin typeface="Times New Roman" panose="02020603050405020304" pitchFamily="18" charset="0"/>
                <a:cs typeface="Times New Roman" panose="02020603050405020304" pitchFamily="18" charset="0"/>
              </a:rPr>
              <a:t>tr</a:t>
            </a:r>
            <a:r>
              <a:rPr lang="en-US" dirty="0">
                <a:latin typeface="Times New Roman" panose="02020603050405020304" pitchFamily="18" charset="0"/>
                <a:cs typeface="Times New Roman" panose="02020603050405020304" pitchFamily="18" charset="0"/>
              </a:rPr>
              <a:t>&gt;</a:t>
            </a:r>
          </a:p>
          <a:p>
            <a:r>
              <a:rPr lang="en-US" dirty="0">
                <a:latin typeface="Times New Roman" panose="02020603050405020304" pitchFamily="18" charset="0"/>
                <a:cs typeface="Times New Roman" panose="02020603050405020304" pitchFamily="18" charset="0"/>
              </a:rPr>
              <a:t>        &lt;</a:t>
            </a:r>
            <a:r>
              <a:rPr lang="en-US" dirty="0" err="1">
                <a:latin typeface="Times New Roman" panose="02020603050405020304" pitchFamily="18" charset="0"/>
                <a:cs typeface="Times New Roman" panose="02020603050405020304" pitchFamily="18" charset="0"/>
              </a:rPr>
              <a:t>tr</a:t>
            </a:r>
            <a:r>
              <a:rPr lang="en-US" dirty="0">
                <a:latin typeface="Times New Roman" panose="02020603050405020304" pitchFamily="18" charset="0"/>
                <a:cs typeface="Times New Roman" panose="02020603050405020304" pitchFamily="18" charset="0"/>
              </a:rPr>
              <a:t>&gt;&lt;td&gt;Ravi&lt;/td&gt;&lt;td&gt;32&lt;/td&gt;&lt;td&gt;Fever&lt;/td&gt;&lt;td&gt;Dr. Kumar&lt;/td&gt;&lt;/</a:t>
            </a:r>
            <a:r>
              <a:rPr lang="en-US" dirty="0" err="1">
                <a:latin typeface="Times New Roman" panose="02020603050405020304" pitchFamily="18" charset="0"/>
                <a:cs typeface="Times New Roman" panose="02020603050405020304" pitchFamily="18" charset="0"/>
              </a:rPr>
              <a:t>tr</a:t>
            </a:r>
            <a:r>
              <a:rPr lang="en-US" dirty="0">
                <a:latin typeface="Times New Roman" panose="02020603050405020304" pitchFamily="18" charset="0"/>
                <a:cs typeface="Times New Roman" panose="02020603050405020304" pitchFamily="18" charset="0"/>
              </a:rPr>
              <a:t>&gt;</a:t>
            </a:r>
          </a:p>
          <a:p>
            <a:r>
              <a:rPr lang="en-US" dirty="0">
                <a:latin typeface="Times New Roman" panose="02020603050405020304" pitchFamily="18" charset="0"/>
                <a:cs typeface="Times New Roman" panose="02020603050405020304" pitchFamily="18" charset="0"/>
              </a:rPr>
              <a:t>        &lt;</a:t>
            </a:r>
            <a:r>
              <a:rPr lang="en-US" dirty="0" err="1">
                <a:latin typeface="Times New Roman" panose="02020603050405020304" pitchFamily="18" charset="0"/>
                <a:cs typeface="Times New Roman" panose="02020603050405020304" pitchFamily="18" charset="0"/>
              </a:rPr>
              <a:t>tr</a:t>
            </a:r>
            <a:r>
              <a:rPr lang="en-US" dirty="0">
                <a:latin typeface="Times New Roman" panose="02020603050405020304" pitchFamily="18" charset="0"/>
                <a:cs typeface="Times New Roman" panose="02020603050405020304" pitchFamily="18" charset="0"/>
              </a:rPr>
              <a:t>&gt;&lt;td&gt;</a:t>
            </a:r>
            <a:r>
              <a:rPr lang="en-US" dirty="0" err="1">
                <a:latin typeface="Times New Roman" panose="02020603050405020304" pitchFamily="18" charset="0"/>
                <a:cs typeface="Times New Roman" panose="02020603050405020304" pitchFamily="18" charset="0"/>
              </a:rPr>
              <a:t>Sita</a:t>
            </a:r>
            <a:r>
              <a:rPr lang="en-US" dirty="0">
                <a:latin typeface="Times New Roman" panose="02020603050405020304" pitchFamily="18" charset="0"/>
                <a:cs typeface="Times New Roman" panose="02020603050405020304" pitchFamily="18" charset="0"/>
              </a:rPr>
              <a:t>&lt;/td&gt;&lt;td&gt;28&lt;/td&gt;&lt;td&gt;Diabetes&lt;/td&gt;&lt;td&gt;Dr. Rao&lt;/td&gt;&lt;/</a:t>
            </a:r>
            <a:r>
              <a:rPr lang="en-US" dirty="0" err="1">
                <a:latin typeface="Times New Roman" panose="02020603050405020304" pitchFamily="18" charset="0"/>
                <a:cs typeface="Times New Roman" panose="02020603050405020304" pitchFamily="18" charset="0"/>
              </a:rPr>
              <a:t>tr</a:t>
            </a:r>
            <a:r>
              <a:rPr lang="en-US" dirty="0">
                <a:latin typeface="Times New Roman" panose="02020603050405020304" pitchFamily="18" charset="0"/>
                <a:cs typeface="Times New Roman" panose="02020603050405020304" pitchFamily="18" charset="0"/>
              </a:rPr>
              <a:t>&gt;</a:t>
            </a:r>
          </a:p>
          <a:p>
            <a:r>
              <a:rPr lang="en-US" dirty="0">
                <a:latin typeface="Times New Roman" panose="02020603050405020304" pitchFamily="18" charset="0"/>
                <a:cs typeface="Times New Roman" panose="02020603050405020304" pitchFamily="18" charset="0"/>
              </a:rPr>
              <a:t>        &lt;</a:t>
            </a:r>
            <a:r>
              <a:rPr lang="en-US" dirty="0" err="1">
                <a:latin typeface="Times New Roman" panose="02020603050405020304" pitchFamily="18" charset="0"/>
                <a:cs typeface="Times New Roman" panose="02020603050405020304" pitchFamily="18" charset="0"/>
              </a:rPr>
              <a:t>tr</a:t>
            </a:r>
            <a:r>
              <a:rPr lang="en-US" dirty="0">
                <a:latin typeface="Times New Roman" panose="02020603050405020304" pitchFamily="18" charset="0"/>
                <a:cs typeface="Times New Roman" panose="02020603050405020304" pitchFamily="18" charset="0"/>
              </a:rPr>
              <a:t>&gt;&lt;td&gt;Arjun&lt;/td&gt;&lt;td&gt;40&lt;/td&gt;&lt;td&gt;Cold&lt;/td&gt;&lt;td&gt;Dr. Reddy&lt;/td&gt;&lt;/</a:t>
            </a:r>
            <a:r>
              <a:rPr lang="en-US" dirty="0" err="1">
                <a:latin typeface="Times New Roman" panose="02020603050405020304" pitchFamily="18" charset="0"/>
                <a:cs typeface="Times New Roman" panose="02020603050405020304" pitchFamily="18" charset="0"/>
              </a:rPr>
              <a:t>tr</a:t>
            </a:r>
            <a:r>
              <a:rPr lang="en-US" dirty="0">
                <a:latin typeface="Times New Roman" panose="02020603050405020304" pitchFamily="18" charset="0"/>
                <a:cs typeface="Times New Roman" panose="02020603050405020304" pitchFamily="18" charset="0"/>
              </a:rPr>
              <a:t>&gt;</a:t>
            </a:r>
          </a:p>
          <a:p>
            <a:r>
              <a:rPr lang="en-US" dirty="0">
                <a:latin typeface="Times New Roman" panose="02020603050405020304" pitchFamily="18" charset="0"/>
                <a:cs typeface="Times New Roman" panose="02020603050405020304" pitchFamily="18" charset="0"/>
              </a:rPr>
              <a:t>      &lt;/table&gt;</a:t>
            </a:r>
          </a:p>
          <a:p>
            <a:r>
              <a:rPr lang="en-US" dirty="0">
                <a:latin typeface="Times New Roman" panose="02020603050405020304" pitchFamily="18" charset="0"/>
                <a:cs typeface="Times New Roman" panose="02020603050405020304" pitchFamily="18" charset="0"/>
              </a:rPr>
              <a:t>    &lt;/div&gt;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&lt;!-- DOCTORS --&gt;</a:t>
            </a:r>
          </a:p>
          <a:p>
            <a:r>
              <a:rPr lang="en-US" dirty="0">
                <a:latin typeface="Times New Roman" panose="02020603050405020304" pitchFamily="18" charset="0"/>
                <a:cs typeface="Times New Roman" panose="02020603050405020304" pitchFamily="18" charset="0"/>
              </a:rPr>
              <a:t>    &lt;div id="doctors" class="section"&gt;</a:t>
            </a:r>
          </a:p>
          <a:p>
            <a:r>
              <a:rPr lang="en-US" dirty="0">
                <a:latin typeface="Times New Roman" panose="02020603050405020304" pitchFamily="18" charset="0"/>
                <a:cs typeface="Times New Roman" panose="02020603050405020304" pitchFamily="18" charset="0"/>
              </a:rPr>
              <a:t>      &lt;h2&gt;Doctors&lt;/h2&gt;</a:t>
            </a:r>
          </a:p>
          <a:p>
            <a:r>
              <a:rPr lang="en-US" dirty="0">
                <a:latin typeface="Times New Roman" panose="02020603050405020304" pitchFamily="18" charset="0"/>
                <a:cs typeface="Times New Roman" panose="02020603050405020304" pitchFamily="18" charset="0"/>
              </a:rPr>
              <a:t>      &lt;p&gt;Dr. Kumar - General&lt;/p&gt;</a:t>
            </a:r>
          </a:p>
          <a:p>
            <a:r>
              <a:rPr lang="en-US" dirty="0">
                <a:latin typeface="Times New Roman" panose="02020603050405020304" pitchFamily="18" charset="0"/>
                <a:cs typeface="Times New Roman" panose="02020603050405020304" pitchFamily="18" charset="0"/>
              </a:rPr>
              <a:t>      &lt;p&gt;Dr. Rao - Diabetes&lt;/p&gt;</a:t>
            </a:r>
          </a:p>
          <a:p>
            <a:r>
              <a:rPr lang="en-US" dirty="0">
                <a:latin typeface="Times New Roman" panose="02020603050405020304" pitchFamily="18" charset="0"/>
                <a:cs typeface="Times New Roman" panose="02020603050405020304" pitchFamily="18" charset="0"/>
              </a:rPr>
              <a:t>      &lt;p&gt;Dr. Reddy - ENT&lt;/p&gt;</a:t>
            </a:r>
          </a:p>
          <a:p>
            <a:r>
              <a:rPr lang="en-US" dirty="0">
                <a:latin typeface="Times New Roman" panose="02020603050405020304" pitchFamily="18" charset="0"/>
                <a:cs typeface="Times New Roman" panose="02020603050405020304" pitchFamily="18" charset="0"/>
              </a:rPr>
              <a:t>    &lt;/div&gt;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&lt;!-- APPOINTMENTS --&gt;</a:t>
            </a:r>
          </a:p>
          <a:p>
            <a:r>
              <a:rPr lang="en-US" dirty="0">
                <a:latin typeface="Times New Roman" panose="02020603050405020304" pitchFamily="18" charset="0"/>
                <a:cs typeface="Times New Roman" panose="02020603050405020304" pitchFamily="18" charset="0"/>
              </a:rPr>
              <a:t>    &lt;div id="appointments" class="section"&gt;</a:t>
            </a:r>
          </a:p>
          <a:p>
            <a:r>
              <a:rPr lang="en-US" dirty="0">
                <a:latin typeface="Times New Roman" panose="02020603050405020304" pitchFamily="18" charset="0"/>
                <a:cs typeface="Times New Roman" panose="02020603050405020304" pitchFamily="18" charset="0"/>
              </a:rPr>
              <a:t>      &lt;h2&gt;Appointments&lt;/h2&gt;</a:t>
            </a:r>
          </a:p>
          <a:p>
            <a:r>
              <a:rPr lang="en-US" dirty="0">
                <a:latin typeface="Times New Roman" panose="02020603050405020304" pitchFamily="18" charset="0"/>
                <a:cs typeface="Times New Roman" panose="02020603050405020304" pitchFamily="18" charset="0"/>
              </a:rPr>
              <a:t>      &lt;p&gt;Ravi - 10:00 AM&lt;/p&gt;</a:t>
            </a:r>
          </a:p>
          <a:p>
            <a:r>
              <a:rPr lang="en-US" dirty="0">
                <a:latin typeface="Times New Roman" panose="02020603050405020304" pitchFamily="18" charset="0"/>
                <a:cs typeface="Times New Roman" panose="02020603050405020304" pitchFamily="18" charset="0"/>
              </a:rPr>
              <a:t>      &lt;p&gt;</a:t>
            </a:r>
            <a:r>
              <a:rPr lang="en-US" dirty="0" err="1">
                <a:latin typeface="Times New Roman" panose="02020603050405020304" pitchFamily="18" charset="0"/>
                <a:cs typeface="Times New Roman" panose="02020603050405020304" pitchFamily="18" charset="0"/>
              </a:rPr>
              <a:t>Sita</a:t>
            </a:r>
            <a:r>
              <a:rPr lang="en-US" dirty="0">
                <a:latin typeface="Times New Roman" panose="02020603050405020304" pitchFamily="18" charset="0"/>
                <a:cs typeface="Times New Roman" panose="02020603050405020304" pitchFamily="18" charset="0"/>
              </a:rPr>
              <a:t> - 11:30 AM&lt;/p&gt;</a:t>
            </a:r>
          </a:p>
          <a:p>
            <a:r>
              <a:rPr lang="en-US" dirty="0">
                <a:latin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39713110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239" y="265471"/>
            <a:ext cx="11857703" cy="674030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&lt;/div&gt;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&lt;!-- PHARMACY --&gt;</a:t>
            </a:r>
          </a:p>
          <a:p>
            <a:r>
              <a:rPr lang="en-US" dirty="0">
                <a:latin typeface="Times New Roman" panose="02020603050405020304" pitchFamily="18" charset="0"/>
                <a:cs typeface="Times New Roman" panose="02020603050405020304" pitchFamily="18" charset="0"/>
              </a:rPr>
              <a:t>    &lt;div id="pharmacy" class="section"&gt;</a:t>
            </a:r>
          </a:p>
          <a:p>
            <a:r>
              <a:rPr lang="en-US" dirty="0">
                <a:latin typeface="Times New Roman" panose="02020603050405020304" pitchFamily="18" charset="0"/>
                <a:cs typeface="Times New Roman" panose="02020603050405020304" pitchFamily="18" charset="0"/>
              </a:rPr>
              <a:t>      &lt;h2&gt;Pharmacy&lt;/h2&gt;</a:t>
            </a:r>
          </a:p>
          <a:p>
            <a:r>
              <a:rPr lang="en-US" dirty="0">
                <a:latin typeface="Times New Roman" panose="02020603050405020304" pitchFamily="18" charset="0"/>
                <a:cs typeface="Times New Roman" panose="02020603050405020304" pitchFamily="18" charset="0"/>
              </a:rPr>
              <a:t>      &lt;p&gt;Paracetamol - Available&lt;/p&gt;</a:t>
            </a:r>
          </a:p>
          <a:p>
            <a:r>
              <a:rPr lang="en-US" dirty="0">
                <a:latin typeface="Times New Roman" panose="02020603050405020304" pitchFamily="18" charset="0"/>
                <a:cs typeface="Times New Roman" panose="02020603050405020304" pitchFamily="18" charset="0"/>
              </a:rPr>
              <a:t>      &lt;p&gt;Insulin - Available&lt;/p&gt;</a:t>
            </a:r>
          </a:p>
          <a:p>
            <a:r>
              <a:rPr lang="en-US" dirty="0">
                <a:latin typeface="Times New Roman" panose="02020603050405020304" pitchFamily="18" charset="0"/>
                <a:cs typeface="Times New Roman" panose="02020603050405020304" pitchFamily="18" charset="0"/>
              </a:rPr>
              <a:t>    &lt;/div&gt;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&lt;!-- ANALYTICS --&gt;</a:t>
            </a:r>
          </a:p>
          <a:p>
            <a:r>
              <a:rPr lang="en-US" dirty="0">
                <a:latin typeface="Times New Roman" panose="02020603050405020304" pitchFamily="18" charset="0"/>
                <a:cs typeface="Times New Roman" panose="02020603050405020304" pitchFamily="18" charset="0"/>
              </a:rPr>
              <a:t>    &lt;div id="analytics" class="section"&gt;</a:t>
            </a:r>
          </a:p>
          <a:p>
            <a:r>
              <a:rPr lang="en-US" dirty="0">
                <a:latin typeface="Times New Roman" panose="02020603050405020304" pitchFamily="18" charset="0"/>
                <a:cs typeface="Times New Roman" panose="02020603050405020304" pitchFamily="18" charset="0"/>
              </a:rPr>
              <a:t>      &lt;h2&gt;Analytics&lt;/h2&gt;</a:t>
            </a:r>
          </a:p>
          <a:p>
            <a:r>
              <a:rPr lang="en-US" dirty="0">
                <a:latin typeface="Times New Roman" panose="02020603050405020304" pitchFamily="18" charset="0"/>
                <a:cs typeface="Times New Roman" panose="02020603050405020304" pitchFamily="18" charset="0"/>
              </a:rPr>
              <a:t>      &lt;progress value="70" max="100"&gt;&lt;/progress&gt;</a:t>
            </a:r>
          </a:p>
          <a:p>
            <a:r>
              <a:rPr lang="en-US" dirty="0">
                <a:latin typeface="Times New Roman" panose="02020603050405020304" pitchFamily="18" charset="0"/>
                <a:cs typeface="Times New Roman" panose="02020603050405020304" pitchFamily="18" charset="0"/>
              </a:rPr>
              <a:t>    &lt;/div&gt;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&lt;!-- CONTACT --&gt;</a:t>
            </a:r>
          </a:p>
          <a:p>
            <a:r>
              <a:rPr lang="en-US" dirty="0">
                <a:latin typeface="Times New Roman" panose="02020603050405020304" pitchFamily="18" charset="0"/>
                <a:cs typeface="Times New Roman" panose="02020603050405020304" pitchFamily="18" charset="0"/>
              </a:rPr>
              <a:t>    &lt;div id="contact" class="section"&gt;</a:t>
            </a:r>
          </a:p>
          <a:p>
            <a:r>
              <a:rPr lang="en-US" dirty="0">
                <a:latin typeface="Times New Roman" panose="02020603050405020304" pitchFamily="18" charset="0"/>
                <a:cs typeface="Times New Roman" panose="02020603050405020304" pitchFamily="18" charset="0"/>
              </a:rPr>
              <a:t>      &lt;h2&gt;Contact&lt;/h2&gt;</a:t>
            </a:r>
          </a:p>
          <a:p>
            <a:r>
              <a:rPr lang="en-US" dirty="0">
                <a:latin typeface="Times New Roman" panose="02020603050405020304" pitchFamily="18" charset="0"/>
                <a:cs typeface="Times New Roman" panose="02020603050405020304" pitchFamily="18" charset="0"/>
              </a:rPr>
              <a:t>      &lt;input placeholder="Name"&gt;&lt;</a:t>
            </a:r>
            <a:r>
              <a:rPr lang="en-US" dirty="0" err="1">
                <a:latin typeface="Times New Roman" panose="02020603050405020304" pitchFamily="18" charset="0"/>
                <a:cs typeface="Times New Roman" panose="02020603050405020304" pitchFamily="18" charset="0"/>
              </a:rPr>
              <a:t>br</a:t>
            </a:r>
            <a:r>
              <a:rPr lang="en-US" dirty="0">
                <a:latin typeface="Times New Roman" panose="02020603050405020304" pitchFamily="18" charset="0"/>
                <a:cs typeface="Times New Roman" panose="02020603050405020304" pitchFamily="18" charset="0"/>
              </a:rPr>
              <a:t>&gt;</a:t>
            </a:r>
          </a:p>
          <a:p>
            <a:r>
              <a:rPr lang="en-US" dirty="0">
                <a:latin typeface="Times New Roman" panose="02020603050405020304" pitchFamily="18" charset="0"/>
                <a:cs typeface="Times New Roman" panose="02020603050405020304" pitchFamily="18" charset="0"/>
              </a:rPr>
              <a:t>      &lt;input placeholder="Email"&gt;&lt;</a:t>
            </a:r>
            <a:r>
              <a:rPr lang="en-US" dirty="0" err="1">
                <a:latin typeface="Times New Roman" panose="02020603050405020304" pitchFamily="18" charset="0"/>
                <a:cs typeface="Times New Roman" panose="02020603050405020304" pitchFamily="18" charset="0"/>
              </a:rPr>
              <a:t>br</a:t>
            </a:r>
            <a:r>
              <a:rPr lang="en-US" dirty="0">
                <a:latin typeface="Times New Roman" panose="02020603050405020304" pitchFamily="18" charset="0"/>
                <a:cs typeface="Times New Roman" panose="02020603050405020304" pitchFamily="18" charset="0"/>
              </a:rPr>
              <a:t>&gt;</a:t>
            </a:r>
          </a:p>
          <a:p>
            <a:r>
              <a:rPr lang="en-US" dirty="0">
                <a:latin typeface="Times New Roman" panose="02020603050405020304" pitchFamily="18" charset="0"/>
                <a:cs typeface="Times New Roman" panose="02020603050405020304" pitchFamily="18" charset="0"/>
              </a:rPr>
              <a:t>      &lt;button&gt;Send&lt;/button&gt;</a:t>
            </a:r>
          </a:p>
          <a:p>
            <a:r>
              <a:rPr lang="en-US" dirty="0">
                <a:latin typeface="Times New Roman" panose="02020603050405020304" pitchFamily="18" charset="0"/>
                <a:cs typeface="Times New Roman" panose="02020603050405020304" pitchFamily="18" charset="0"/>
              </a:rPr>
              <a:t>    &lt;/div&gt;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23984875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47484"/>
            <a:ext cx="11769213" cy="701730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&lt;/div&gt;</a:t>
            </a:r>
          </a:p>
          <a:p>
            <a:r>
              <a:rPr lang="en-US" dirty="0">
                <a:latin typeface="Times New Roman" panose="02020603050405020304" pitchFamily="18" charset="0"/>
                <a:cs typeface="Times New Roman" panose="02020603050405020304" pitchFamily="18" charset="0"/>
              </a:rPr>
              <a:t>&lt;/div&gt;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&lt;script&gt;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USERS */</a:t>
            </a:r>
          </a:p>
          <a:p>
            <a:r>
              <a:rPr lang="en-US" dirty="0" err="1">
                <a:latin typeface="Times New Roman" panose="02020603050405020304" pitchFamily="18" charset="0"/>
                <a:cs typeface="Times New Roman" panose="02020603050405020304" pitchFamily="18" charset="0"/>
              </a:rPr>
              <a:t>const</a:t>
            </a:r>
            <a:r>
              <a:rPr lang="en-US" dirty="0">
                <a:latin typeface="Times New Roman" panose="02020603050405020304" pitchFamily="18" charset="0"/>
                <a:cs typeface="Times New Roman" panose="02020603050405020304" pitchFamily="18" charset="0"/>
              </a:rPr>
              <a:t> users=[</a:t>
            </a:r>
          </a:p>
          <a:p>
            <a:r>
              <a:rPr lang="en-US" dirty="0">
                <a:latin typeface="Times New Roman" panose="02020603050405020304" pitchFamily="18" charset="0"/>
                <a:cs typeface="Times New Roman" panose="02020603050405020304" pitchFamily="18" charset="0"/>
              </a:rPr>
              <a:t>  {username:"admin",password:"1234"},</a:t>
            </a:r>
          </a:p>
          <a:p>
            <a:r>
              <a:rPr lang="en-US" dirty="0">
                <a:latin typeface="Times New Roman" panose="02020603050405020304" pitchFamily="18" charset="0"/>
                <a:cs typeface="Times New Roman" panose="02020603050405020304" pitchFamily="18" charset="0"/>
              </a:rPr>
              <a:t>  {username:"doctor",password:"doc123"}</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LOGIN */</a:t>
            </a:r>
          </a:p>
          <a:p>
            <a:r>
              <a:rPr lang="en-US" dirty="0">
                <a:latin typeface="Times New Roman" panose="02020603050405020304" pitchFamily="18" charset="0"/>
                <a:cs typeface="Times New Roman" panose="02020603050405020304" pitchFamily="18" charset="0"/>
              </a:rPr>
              <a:t>function login(){</a:t>
            </a:r>
          </a:p>
          <a:p>
            <a:r>
              <a:rPr lang="en-US" dirty="0">
                <a:latin typeface="Times New Roman" panose="02020603050405020304" pitchFamily="18" charset="0"/>
                <a:cs typeface="Times New Roman" panose="02020603050405020304" pitchFamily="18" charset="0"/>
              </a:rPr>
              <a:t>  let u=</a:t>
            </a:r>
            <a:r>
              <a:rPr lang="en-US" dirty="0" err="1">
                <a:latin typeface="Times New Roman" panose="02020603050405020304" pitchFamily="18" charset="0"/>
                <a:cs typeface="Times New Roman" panose="02020603050405020304" pitchFamily="18" charset="0"/>
              </a:rPr>
              <a:t>username.value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let p=</a:t>
            </a:r>
            <a:r>
              <a:rPr lang="en-US" dirty="0" err="1">
                <a:latin typeface="Times New Roman" panose="02020603050405020304" pitchFamily="18" charset="0"/>
                <a:cs typeface="Times New Roman" panose="02020603050405020304" pitchFamily="18" charset="0"/>
              </a:rPr>
              <a:t>password.value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let valid=</a:t>
            </a:r>
            <a:r>
              <a:rPr lang="en-US" dirty="0" err="1">
                <a:latin typeface="Times New Roman" panose="02020603050405020304" pitchFamily="18" charset="0"/>
                <a:cs typeface="Times New Roman" panose="02020603050405020304" pitchFamily="18" charset="0"/>
              </a:rPr>
              <a:t>users.find</a:t>
            </a:r>
            <a:r>
              <a:rPr lang="en-US" dirty="0">
                <a:latin typeface="Times New Roman" panose="02020603050405020304" pitchFamily="18" charset="0"/>
                <a:cs typeface="Times New Roman" panose="02020603050405020304" pitchFamily="18" charset="0"/>
              </a:rPr>
              <a:t>(x=&gt;</a:t>
            </a:r>
            <a:r>
              <a:rPr lang="en-US" dirty="0" err="1">
                <a:latin typeface="Times New Roman" panose="02020603050405020304" pitchFamily="18" charset="0"/>
                <a:cs typeface="Times New Roman" panose="02020603050405020304" pitchFamily="18" charset="0"/>
              </a:rPr>
              <a:t>x.username</a:t>
            </a:r>
            <a:r>
              <a:rPr lang="en-US" dirty="0">
                <a:latin typeface="Times New Roman" panose="02020603050405020304" pitchFamily="18" charset="0"/>
                <a:cs typeface="Times New Roman" panose="02020603050405020304" pitchFamily="18" charset="0"/>
              </a:rPr>
              <a:t>===u &amp;&amp; </a:t>
            </a:r>
            <a:r>
              <a:rPr lang="en-US" dirty="0" err="1">
                <a:latin typeface="Times New Roman" panose="02020603050405020304" pitchFamily="18" charset="0"/>
                <a:cs typeface="Times New Roman" panose="02020603050405020304" pitchFamily="18" charset="0"/>
              </a:rPr>
              <a:t>x.password</a:t>
            </a:r>
            <a:r>
              <a:rPr lang="en-US" dirty="0">
                <a:latin typeface="Times New Roman" panose="02020603050405020304" pitchFamily="18" charset="0"/>
                <a:cs typeface="Times New Roman" panose="02020603050405020304" pitchFamily="18" charset="0"/>
              </a:rPr>
              <a:t>===p);</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if(valid){</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localStorage.setItem</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user",u</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document.getElementById</a:t>
            </a:r>
            <a:r>
              <a:rPr lang="en-US" dirty="0">
                <a:latin typeface="Times New Roman" panose="02020603050405020304" pitchFamily="18" charset="0"/>
                <a:cs typeface="Times New Roman" panose="02020603050405020304" pitchFamily="18" charset="0"/>
              </a:rPr>
              <a:t>("login").</a:t>
            </a:r>
            <a:r>
              <a:rPr lang="en-US" dirty="0" err="1">
                <a:latin typeface="Times New Roman" panose="02020603050405020304" pitchFamily="18" charset="0"/>
                <a:cs typeface="Times New Roman" panose="02020603050405020304" pitchFamily="18" charset="0"/>
              </a:rPr>
              <a:t>style.display</a:t>
            </a:r>
            <a:r>
              <a:rPr lang="en-US" dirty="0">
                <a:latin typeface="Times New Roman" panose="02020603050405020304" pitchFamily="18" charset="0"/>
                <a:cs typeface="Times New Roman" panose="02020603050405020304" pitchFamily="18" charset="0"/>
              </a:rPr>
              <a:t>="none";</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document.getElementById</a:t>
            </a:r>
            <a:r>
              <a:rPr lang="en-US" dirty="0">
                <a:latin typeface="Times New Roman" panose="02020603050405020304" pitchFamily="18" charset="0"/>
                <a:cs typeface="Times New Roman" panose="02020603050405020304" pitchFamily="18" charset="0"/>
              </a:rPr>
              <a:t>("app").</a:t>
            </a:r>
            <a:r>
              <a:rPr lang="en-US" dirty="0" err="1">
                <a:latin typeface="Times New Roman" panose="02020603050405020304" pitchFamily="18" charset="0"/>
                <a:cs typeface="Times New Roman" panose="02020603050405020304" pitchFamily="18" charset="0"/>
              </a:rPr>
              <a:t>style.display</a:t>
            </a:r>
            <a:r>
              <a:rPr lang="en-US" dirty="0">
                <a:latin typeface="Times New Roman" panose="02020603050405020304" pitchFamily="18" charset="0"/>
                <a:cs typeface="Times New Roman" panose="02020603050405020304" pitchFamily="18" charset="0"/>
              </a:rPr>
              <a:t>="flex";</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document.getElementById</a:t>
            </a:r>
            <a:r>
              <a:rPr lang="en-US" dirty="0">
                <a:latin typeface="Times New Roman" panose="02020603050405020304" pitchFamily="18" charset="0"/>
                <a:cs typeface="Times New Roman" panose="02020603050405020304" pitchFamily="18" charset="0"/>
              </a:rPr>
              <a:t>("welcome").</a:t>
            </a:r>
            <a:r>
              <a:rPr lang="en-US" dirty="0" err="1">
                <a:latin typeface="Times New Roman" panose="02020603050405020304" pitchFamily="18" charset="0"/>
                <a:cs typeface="Times New Roman" panose="02020603050405020304" pitchFamily="18" charset="0"/>
              </a:rPr>
              <a:t>innerText</a:t>
            </a:r>
            <a:r>
              <a:rPr lang="en-US" dirty="0">
                <a:latin typeface="Times New Roman" panose="02020603050405020304" pitchFamily="18" charset="0"/>
                <a:cs typeface="Times New Roman" panose="02020603050405020304" pitchFamily="18" charset="0"/>
              </a:rPr>
              <a:t>="Welcome "+u;</a:t>
            </a:r>
          </a:p>
          <a:p>
            <a:r>
              <a:rPr lang="en-US" dirty="0">
                <a:latin typeface="Times New Roman" panose="02020603050405020304" pitchFamily="18" charset="0"/>
                <a:cs typeface="Times New Roman" panose="02020603050405020304" pitchFamily="18" charset="0"/>
              </a:rPr>
              <a:t>  }else{</a:t>
            </a:r>
          </a:p>
          <a:p>
            <a:r>
              <a:rPr lang="en-US" dirty="0">
                <a:latin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23843281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21226"/>
            <a:ext cx="11872451" cy="923329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alert("Invalid Login");</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AUTO LOGIN */</a:t>
            </a:r>
          </a:p>
          <a:p>
            <a:r>
              <a:rPr lang="en-US" dirty="0" err="1">
                <a:latin typeface="Times New Roman" panose="02020603050405020304" pitchFamily="18" charset="0"/>
                <a:cs typeface="Times New Roman" panose="02020603050405020304" pitchFamily="18" charset="0"/>
              </a:rPr>
              <a:t>window.onload</a:t>
            </a:r>
            <a:r>
              <a:rPr lang="en-US" dirty="0">
                <a:latin typeface="Times New Roman" panose="02020603050405020304" pitchFamily="18" charset="0"/>
                <a:cs typeface="Times New Roman" panose="02020603050405020304" pitchFamily="18" charset="0"/>
              </a:rPr>
              <a:t>=function(){</a:t>
            </a:r>
          </a:p>
          <a:p>
            <a:r>
              <a:rPr lang="en-US" dirty="0">
                <a:latin typeface="Times New Roman" panose="02020603050405020304" pitchFamily="18" charset="0"/>
                <a:cs typeface="Times New Roman" panose="02020603050405020304" pitchFamily="18" charset="0"/>
              </a:rPr>
              <a:t>  let u=</a:t>
            </a:r>
            <a:r>
              <a:rPr lang="en-US" dirty="0" err="1">
                <a:latin typeface="Times New Roman" panose="02020603050405020304" pitchFamily="18" charset="0"/>
                <a:cs typeface="Times New Roman" panose="02020603050405020304" pitchFamily="18" charset="0"/>
              </a:rPr>
              <a:t>localStorage.getItem</a:t>
            </a:r>
            <a:r>
              <a:rPr lang="en-US" dirty="0">
                <a:latin typeface="Times New Roman" panose="02020603050405020304" pitchFamily="18" charset="0"/>
                <a:cs typeface="Times New Roman" panose="02020603050405020304" pitchFamily="18" charset="0"/>
              </a:rPr>
              <a:t>("user");</a:t>
            </a:r>
          </a:p>
          <a:p>
            <a:r>
              <a:rPr lang="en-US" dirty="0">
                <a:latin typeface="Times New Roman" panose="02020603050405020304" pitchFamily="18" charset="0"/>
                <a:cs typeface="Times New Roman" panose="02020603050405020304" pitchFamily="18" charset="0"/>
              </a:rPr>
              <a:t>  if(u){</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login.style.display</a:t>
            </a:r>
            <a:r>
              <a:rPr lang="en-US" dirty="0">
                <a:latin typeface="Times New Roman" panose="02020603050405020304" pitchFamily="18" charset="0"/>
                <a:cs typeface="Times New Roman" panose="02020603050405020304" pitchFamily="18" charset="0"/>
              </a:rPr>
              <a:t>="none";</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app.style.display</a:t>
            </a:r>
            <a:r>
              <a:rPr lang="en-US" dirty="0">
                <a:latin typeface="Times New Roman" panose="02020603050405020304" pitchFamily="18" charset="0"/>
                <a:cs typeface="Times New Roman" panose="02020603050405020304" pitchFamily="18" charset="0"/>
              </a:rPr>
              <a:t>="flex";</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welcome.innerText</a:t>
            </a:r>
            <a:r>
              <a:rPr lang="en-US" dirty="0">
                <a:latin typeface="Times New Roman" panose="02020603050405020304" pitchFamily="18" charset="0"/>
                <a:cs typeface="Times New Roman" panose="02020603050405020304" pitchFamily="18" charset="0"/>
              </a:rPr>
              <a:t>="Welcome "+u;</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NAVIGATION */</a:t>
            </a:r>
          </a:p>
          <a:p>
            <a:r>
              <a:rPr lang="en-US" dirty="0">
                <a:latin typeface="Times New Roman" panose="02020603050405020304" pitchFamily="18" charset="0"/>
                <a:cs typeface="Times New Roman" panose="02020603050405020304" pitchFamily="18" charset="0"/>
              </a:rPr>
              <a:t>function show(id){</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document.querySelectorAll</a:t>
            </a:r>
            <a:r>
              <a:rPr lang="en-US" dirty="0">
                <a:latin typeface="Times New Roman" panose="02020603050405020304" pitchFamily="18" charset="0"/>
                <a:cs typeface="Times New Roman" panose="02020603050405020304" pitchFamily="18" charset="0"/>
              </a:rPr>
              <a:t>(".section").</a:t>
            </a:r>
            <a:r>
              <a:rPr lang="en-US" dirty="0" err="1">
                <a:latin typeface="Times New Roman" panose="02020603050405020304" pitchFamily="18" charset="0"/>
                <a:cs typeface="Times New Roman" panose="02020603050405020304" pitchFamily="18" charset="0"/>
              </a:rPr>
              <a:t>forEach</a:t>
            </a:r>
            <a:r>
              <a:rPr lang="en-US" dirty="0">
                <a:latin typeface="Times New Roman" panose="02020603050405020304" pitchFamily="18" charset="0"/>
                <a:cs typeface="Times New Roman" panose="02020603050405020304" pitchFamily="18" charset="0"/>
              </a:rPr>
              <a:t>(s=&gt;</a:t>
            </a:r>
            <a:r>
              <a:rPr lang="en-US" dirty="0" err="1">
                <a:latin typeface="Times New Roman" panose="02020603050405020304" pitchFamily="18" charset="0"/>
                <a:cs typeface="Times New Roman" panose="02020603050405020304" pitchFamily="18" charset="0"/>
              </a:rPr>
              <a:t>s.classList.remove</a:t>
            </a:r>
            <a:r>
              <a:rPr lang="en-US" dirty="0">
                <a:latin typeface="Times New Roman" panose="02020603050405020304" pitchFamily="18" charset="0"/>
                <a:cs typeface="Times New Roman" panose="02020603050405020304" pitchFamily="18" charset="0"/>
              </a:rPr>
              <a:t>("active"));</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document.getElementById</a:t>
            </a:r>
            <a:r>
              <a:rPr lang="en-US" dirty="0">
                <a:latin typeface="Times New Roman" panose="02020603050405020304" pitchFamily="18" charset="0"/>
                <a:cs typeface="Times New Roman" panose="02020603050405020304" pitchFamily="18" charset="0"/>
              </a:rPr>
              <a:t>(id).</a:t>
            </a:r>
            <a:r>
              <a:rPr lang="en-US" dirty="0" err="1">
                <a:latin typeface="Times New Roman" panose="02020603050405020304" pitchFamily="18" charset="0"/>
                <a:cs typeface="Times New Roman" panose="02020603050405020304" pitchFamily="18" charset="0"/>
              </a:rPr>
              <a:t>classList.add</a:t>
            </a:r>
            <a:r>
              <a:rPr lang="en-US" dirty="0">
                <a:latin typeface="Times New Roman" panose="02020603050405020304" pitchFamily="18" charset="0"/>
                <a:cs typeface="Times New Roman" panose="02020603050405020304" pitchFamily="18" charset="0"/>
              </a:rPr>
              <a:t>("active");</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LOGOUT */</a:t>
            </a:r>
          </a:p>
          <a:p>
            <a:r>
              <a:rPr lang="en-US" dirty="0">
                <a:latin typeface="Times New Roman" panose="02020603050405020304" pitchFamily="18" charset="0"/>
                <a:cs typeface="Times New Roman" panose="02020603050405020304" pitchFamily="18" charset="0"/>
              </a:rPr>
              <a:t>function logout(){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localStorage.clear</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location.reload</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3531613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4967" y="309716"/>
            <a:ext cx="11400503" cy="1754326"/>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a:t>
            </a:r>
          </a:p>
          <a:p>
            <a:r>
              <a:rPr lang="en-US">
                <a:latin typeface="Times New Roman" panose="02020603050405020304" pitchFamily="18" charset="0"/>
                <a:cs typeface="Times New Roman" panose="02020603050405020304" pitchFamily="18" charset="0"/>
              </a:rPr>
              <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&lt;/script&gt;</a:t>
            </a:r>
          </a:p>
          <a:p>
            <a:r>
              <a:rPr lang="en-US">
                <a:latin typeface="Times New Roman" panose="02020603050405020304" pitchFamily="18" charset="0"/>
                <a:cs typeface="Times New Roman" panose="02020603050405020304" pitchFamily="18" charset="0"/>
              </a:rPr>
              <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&lt;/body&gt;</a:t>
            </a:r>
          </a:p>
          <a:p>
            <a:r>
              <a:rPr lang="en-US">
                <a:latin typeface="Times New Roman" panose="02020603050405020304" pitchFamily="18" charset="0"/>
                <a:cs typeface="Times New Roman" panose="02020603050405020304" pitchFamily="18" charset="0"/>
              </a:rPr>
              <a:t>&lt;/html&gt;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85894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6363" y="2618509"/>
            <a:ext cx="11166763" cy="1323439"/>
          </a:xfrm>
          <a:prstGeom prst="rect">
            <a:avLst/>
          </a:prstGeom>
          <a:noFill/>
        </p:spPr>
        <p:txBody>
          <a:bodyPr wrap="square" rtlCol="0">
            <a:spAutoFit/>
          </a:bodyPr>
          <a:lstStyle/>
          <a:p>
            <a:pPr algn="ctr"/>
            <a:r>
              <a:rPr lang="en-US" sz="8000" dirty="0" smtClean="0">
                <a:latin typeface="Times New Roman" panose="02020603050405020304" pitchFamily="18" charset="0"/>
                <a:cs typeface="Times New Roman" panose="02020603050405020304" pitchFamily="18" charset="0"/>
              </a:rPr>
              <a:t>THANK YOU</a:t>
            </a:r>
            <a:endParaRPr lang="en-US" sz="8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46224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167</TotalTime>
  <Words>937</Words>
  <Application>Microsoft Office PowerPoint</Application>
  <PresentationFormat>Widescreen</PresentationFormat>
  <Paragraphs>295</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Bookman Old Style</vt:lpstr>
      <vt:lpstr>Calibri</vt:lpstr>
      <vt:lpstr>Rockwell</vt:lpstr>
      <vt:lpstr>Times New Roman</vt:lpstr>
      <vt:lpstr>Wingdings</vt:lpstr>
      <vt:lpstr>Damask</vt:lpstr>
      <vt:lpstr>Technology &amp; Digital Management IN HOSPITALS</vt:lpstr>
      <vt:lpstr>INTRODUCTION:             </vt:lpstr>
      <vt:lpstr>PowerPoint Presentation</vt:lpstr>
      <vt:lpstr>ADVANTAGES: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19</cp:revision>
  <dcterms:created xsi:type="dcterms:W3CDTF">2026-01-19T03:18:01Z</dcterms:created>
  <dcterms:modified xsi:type="dcterms:W3CDTF">2026-04-27T03:43:19Z</dcterms:modified>
</cp:coreProperties>
</file>